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7" r:id="rId2"/>
    <p:sldId id="297" r:id="rId3"/>
    <p:sldId id="299" r:id="rId4"/>
    <p:sldId id="298" r:id="rId5"/>
    <p:sldId id="300" r:id="rId6"/>
    <p:sldId id="301" r:id="rId7"/>
    <p:sldId id="312" r:id="rId8"/>
    <p:sldId id="302" r:id="rId9"/>
    <p:sldId id="303" r:id="rId10"/>
    <p:sldId id="313" r:id="rId11"/>
    <p:sldId id="304" r:id="rId12"/>
    <p:sldId id="305" r:id="rId13"/>
    <p:sldId id="306" r:id="rId14"/>
    <p:sldId id="307" r:id="rId15"/>
    <p:sldId id="308" r:id="rId16"/>
    <p:sldId id="309" r:id="rId17"/>
    <p:sldId id="310" r:id="rId18"/>
    <p:sldId id="311"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8" r:id="rId34"/>
    <p:sldId id="329" r:id="rId35"/>
    <p:sldId id="330" r:id="rId36"/>
    <p:sldId id="331" r:id="rId37"/>
    <p:sldId id="332" r:id="rId38"/>
    <p:sldId id="333" r:id="rId39"/>
    <p:sldId id="334" r:id="rId40"/>
    <p:sldId id="335" r:id="rId41"/>
    <p:sldId id="337" r:id="rId42"/>
    <p:sldId id="338" r:id="rId43"/>
    <p:sldId id="339" r:id="rId44"/>
    <p:sldId id="336" r:id="rId45"/>
    <p:sldId id="340" r:id="rId46"/>
    <p:sldId id="341" r:id="rId47"/>
    <p:sldId id="342" r:id="rId48"/>
    <p:sldId id="343" r:id="rId49"/>
    <p:sldId id="344" r:id="rId50"/>
    <p:sldId id="345" r:id="rId51"/>
    <p:sldId id="346"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75" d="100"/>
          <a:sy n="75" d="100"/>
        </p:scale>
        <p:origin x="1550" y="43"/>
      </p:cViewPr>
      <p:guideLst>
        <p:guide orient="horz" pos="2160"/>
        <p:guide pos="289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5DB3AA-1DDA-47CD-9A71-2EDD6965A399}" type="datetimeFigureOut">
              <a:rPr lang="en-IN" smtClean="0"/>
              <a:t>05-02-2025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A24D3E-694F-47A2-A5F8-0FB77A2E30F0}" type="slidenum">
              <a:rPr lang="en-IN" smtClean="0"/>
              <a:t>‹#›</a:t>
            </a:fld>
            <a:endParaRPr lang="en-IN"/>
          </a:p>
        </p:txBody>
      </p:sp>
    </p:spTree>
    <p:extLst>
      <p:ext uri="{BB962C8B-B14F-4D97-AF65-F5344CB8AC3E}">
        <p14:creationId xmlns:p14="http://schemas.microsoft.com/office/powerpoint/2010/main" val="33521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A24D3E-694F-47A2-A5F8-0FB77A2E30F0}" type="slidenum">
              <a:rPr lang="en-IN" smtClean="0"/>
              <a:t>14</a:t>
            </a:fld>
            <a:endParaRPr lang="en-IN"/>
          </a:p>
        </p:txBody>
      </p:sp>
    </p:spTree>
    <p:extLst>
      <p:ext uri="{BB962C8B-B14F-4D97-AF65-F5344CB8AC3E}">
        <p14:creationId xmlns:p14="http://schemas.microsoft.com/office/powerpoint/2010/main" val="27539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77383E-6143-4E16-8BE4-30DEDC0B2A5E}"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7383E-6143-4E16-8BE4-30DEDC0B2A5E}"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77383E-6143-4E16-8BE4-30DEDC0B2A5E}"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77383E-6143-4E16-8BE4-30DEDC0B2A5E}" type="datetimeFigureOut">
              <a:rPr lang="en-IN" smtClean="0"/>
              <a:t>05-02-2025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77383E-6143-4E16-8BE4-30DEDC0B2A5E}" type="datetimeFigureOut">
              <a:rPr lang="en-IN" smtClean="0"/>
              <a:t>05-02-2025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77383E-6143-4E16-8BE4-30DEDC0B2A5E}" type="datetimeFigureOut">
              <a:rPr lang="en-IN" smtClean="0"/>
              <a:t>05-02-2025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77383E-6143-4E16-8BE4-30DEDC0B2A5E}" type="datetimeFigureOut">
              <a:rPr lang="en-IN" smtClean="0"/>
              <a:t>05-02-2025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77383E-6143-4E16-8BE4-30DEDC0B2A5E}" type="datetimeFigureOut">
              <a:rPr lang="en-IN" smtClean="0"/>
              <a:t>05-02-2025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77383E-6143-4E16-8BE4-30DEDC0B2A5E}" type="datetimeFigureOut">
              <a:rPr lang="en-IN" smtClean="0"/>
              <a:t>05-02-2025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7383E-6143-4E16-8BE4-30DEDC0B2A5E}"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7383E-6143-4E16-8BE4-30DEDC0B2A5E}"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404B-90A0-4616-9C35-1ED0E297587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7383E-6143-4E16-8BE4-30DEDC0B2A5E}" type="datetimeFigureOut">
              <a:rPr lang="en-IN" smtClean="0"/>
              <a:t>05-02-2025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EE404B-90A0-4616-9C35-1ED0E297587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9183" y="997565"/>
            <a:ext cx="6085640" cy="5078313"/>
          </a:xfrm>
          <a:prstGeom prst="rect">
            <a:avLst/>
          </a:prstGeom>
          <a:noFill/>
        </p:spPr>
        <p:txBody>
          <a:bodyPr wrap="none" rtlCol="0">
            <a:spAutoFit/>
          </a:bodyPr>
          <a:lstStyle/>
          <a:p>
            <a:pPr algn="ctr"/>
            <a:r>
              <a:rPr lang="en-IN" sz="3200" b="1" dirty="0"/>
              <a:t>Vishwakarma University</a:t>
            </a:r>
          </a:p>
          <a:p>
            <a:pPr algn="ctr"/>
            <a:endParaRPr lang="en-IN" sz="3200" b="1" dirty="0"/>
          </a:p>
          <a:p>
            <a:pPr algn="ctr"/>
            <a:r>
              <a:rPr lang="en-IN" sz="3200" b="1" dirty="0" err="1"/>
              <a:t>FYBSc</a:t>
            </a:r>
            <a:r>
              <a:rPr lang="en-IN" sz="3200" b="1" dirty="0"/>
              <a:t> Computer Science</a:t>
            </a:r>
          </a:p>
          <a:p>
            <a:pPr algn="ctr"/>
            <a:r>
              <a:rPr lang="en-IN" sz="3200" b="1" dirty="0"/>
              <a:t>Sem II</a:t>
            </a:r>
          </a:p>
          <a:p>
            <a:pPr algn="ctr"/>
            <a:r>
              <a:rPr lang="en-IN" sz="4000" dirty="0"/>
              <a:t>BSCCS24203</a:t>
            </a:r>
            <a:endParaRPr lang="en-IN" sz="4000" b="1" dirty="0"/>
          </a:p>
          <a:p>
            <a:pPr algn="ctr"/>
            <a:r>
              <a:rPr lang="en-IN" sz="3600" dirty="0"/>
              <a:t>Database Management System </a:t>
            </a:r>
          </a:p>
          <a:p>
            <a:pPr algn="ctr"/>
            <a:endParaRPr lang="en-IN" sz="4000" b="1" dirty="0"/>
          </a:p>
          <a:p>
            <a:pPr algn="ctr"/>
            <a:r>
              <a:rPr lang="en-IN" sz="4000" b="1" dirty="0"/>
              <a:t>Unit 4</a:t>
            </a:r>
          </a:p>
          <a:p>
            <a:pPr algn="ctr"/>
            <a:r>
              <a:rPr lang="en-IN" sz="4000" b="1" dirty="0"/>
              <a:t>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6C890C-CBD4-14C4-551E-641AD153AC14}"/>
              </a:ext>
            </a:extLst>
          </p:cNvPr>
          <p:cNvSpPr txBox="1"/>
          <p:nvPr/>
        </p:nvSpPr>
        <p:spPr>
          <a:xfrm>
            <a:off x="477520" y="438557"/>
            <a:ext cx="8199120" cy="923330"/>
          </a:xfrm>
          <a:prstGeom prst="rect">
            <a:avLst/>
          </a:prstGeom>
          <a:noFill/>
        </p:spPr>
        <p:txBody>
          <a:bodyPr wrap="square">
            <a:spAutoFit/>
          </a:bodyPr>
          <a:lstStyle/>
          <a:p>
            <a:pPr algn="just"/>
            <a:r>
              <a:rPr lang="en-US" b="0" i="0" dirty="0">
                <a:solidFill>
                  <a:srgbClr val="333333"/>
                </a:solidFill>
                <a:effectLst/>
                <a:latin typeface="Montserrat" panose="00000500000000000000" pitchFamily="2" charset="0"/>
              </a:rPr>
              <a:t>SQL stands for Structured Query Language. It is used for storing and managing data in relational database management system (RDMS). In RDBMS data stored in the form of the tables.</a:t>
            </a:r>
          </a:p>
        </p:txBody>
      </p:sp>
      <p:sp>
        <p:nvSpPr>
          <p:cNvPr id="5" name="TextBox 4">
            <a:extLst>
              <a:ext uri="{FF2B5EF4-FFF2-40B4-BE49-F238E27FC236}">
                <a16:creationId xmlns:a16="http://schemas.microsoft.com/office/drawing/2014/main" id="{8DEFE4B2-424A-886E-245D-BA28FF96976F}"/>
              </a:ext>
            </a:extLst>
          </p:cNvPr>
          <p:cNvSpPr txBox="1"/>
          <p:nvPr/>
        </p:nvSpPr>
        <p:spPr>
          <a:xfrm>
            <a:off x="477520" y="1527294"/>
            <a:ext cx="4572000" cy="369332"/>
          </a:xfrm>
          <a:prstGeom prst="rect">
            <a:avLst/>
          </a:prstGeom>
          <a:noFill/>
        </p:spPr>
        <p:txBody>
          <a:bodyPr wrap="square">
            <a:spAutoFit/>
          </a:bodyPr>
          <a:lstStyle/>
          <a:p>
            <a:pPr algn="l"/>
            <a:r>
              <a:rPr lang="en-US" b="0" i="0" dirty="0">
                <a:effectLst/>
                <a:latin typeface="Montserrat" panose="00000500000000000000" pitchFamily="2" charset="0"/>
              </a:rPr>
              <a:t>How does SQL process works:</a:t>
            </a:r>
          </a:p>
        </p:txBody>
      </p:sp>
      <p:pic>
        <p:nvPicPr>
          <p:cNvPr id="1026" name="Picture 2" descr="DBMS SQL">
            <a:extLst>
              <a:ext uri="{FF2B5EF4-FFF2-40B4-BE49-F238E27FC236}">
                <a16:creationId xmlns:a16="http://schemas.microsoft.com/office/drawing/2014/main" id="{2966E484-A562-5A1B-5B28-A1560365C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560" y="2062033"/>
            <a:ext cx="5943600" cy="446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221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027F3D-4D0B-1701-6637-DFF058034098}"/>
              </a:ext>
            </a:extLst>
          </p:cNvPr>
          <p:cNvSpPr txBox="1"/>
          <p:nvPr/>
        </p:nvSpPr>
        <p:spPr>
          <a:xfrm>
            <a:off x="538480" y="258862"/>
            <a:ext cx="8026400" cy="5909310"/>
          </a:xfrm>
          <a:prstGeom prst="rect">
            <a:avLst/>
          </a:prstGeom>
          <a:noFill/>
        </p:spPr>
        <p:txBody>
          <a:bodyPr wrap="square">
            <a:spAutoFit/>
          </a:bodyPr>
          <a:lstStyle/>
          <a:p>
            <a:pPr marL="342900" indent="-342900">
              <a:buAutoNum type="alphaLcPeriod"/>
            </a:pPr>
            <a:r>
              <a:rPr lang="en-US" dirty="0"/>
              <a:t>Query Parsing</a:t>
            </a:r>
          </a:p>
          <a:p>
            <a:r>
              <a:rPr lang="en-US" dirty="0"/>
              <a:t>Input: The SQL statement provided by the user (e.g., SELECT * FROM Students WHERE Age &gt; 20;).</a:t>
            </a:r>
          </a:p>
          <a:p>
            <a:r>
              <a:rPr lang="en-US" dirty="0"/>
              <a:t>Tasks Performed: Syntax Check: Ensures the SQL statement is syntactically correct.</a:t>
            </a:r>
          </a:p>
          <a:p>
            <a:r>
              <a:rPr lang="en-US" dirty="0"/>
              <a:t>Semantic Check: Verifies if the database objects (tables, columns, etc.) referenced in the query exist and that the user has sufficient permissions.</a:t>
            </a:r>
          </a:p>
          <a:p>
            <a:r>
              <a:rPr lang="en-US" dirty="0"/>
              <a:t>The DBMS generates a "query tree" to represent the structure of the query.</a:t>
            </a:r>
          </a:p>
          <a:p>
            <a:endParaRPr lang="en-US" dirty="0"/>
          </a:p>
          <a:p>
            <a:r>
              <a:rPr lang="en-US" dirty="0"/>
              <a:t>b. Query Optimization</a:t>
            </a:r>
          </a:p>
          <a:p>
            <a:r>
              <a:rPr lang="en-US" dirty="0"/>
              <a:t>Goal: Improve query performance by determining the most efficient way to execute the SQL statement.</a:t>
            </a:r>
          </a:p>
          <a:p>
            <a:r>
              <a:rPr lang="en-US" dirty="0"/>
              <a:t>Tasks Performed:</a:t>
            </a:r>
          </a:p>
          <a:p>
            <a:r>
              <a:rPr lang="en-US" dirty="0"/>
              <a:t>Evaluate different query execution plans.</a:t>
            </a:r>
          </a:p>
          <a:p>
            <a:r>
              <a:rPr lang="en-US" dirty="0"/>
              <a:t>Choose the best plan based on factors like indexes, table size, and available system resources. Consider optimizations like: Using indexes for faster lookups.</a:t>
            </a:r>
          </a:p>
          <a:p>
            <a:r>
              <a:rPr lang="en-US" dirty="0"/>
              <a:t>Reordering joins to reduce intermediate results. Filtering data as early as possible.</a:t>
            </a:r>
          </a:p>
          <a:p>
            <a:endParaRPr lang="en-US" dirty="0"/>
          </a:p>
          <a:p>
            <a:r>
              <a:rPr lang="en-US" dirty="0"/>
              <a:t>c. Query Execution Plan: The DBMS uses the optimized plan to perform the actual query operations. </a:t>
            </a:r>
          </a:p>
          <a:p>
            <a:r>
              <a:rPr lang="en-US" dirty="0"/>
              <a:t>Execution Engine: Reads data from tables. Applies filters, joins, and aggregations. Returns the results to the user.</a:t>
            </a:r>
            <a:endParaRPr lang="en-IN" dirty="0"/>
          </a:p>
        </p:txBody>
      </p:sp>
    </p:spTree>
    <p:extLst>
      <p:ext uri="{BB962C8B-B14F-4D97-AF65-F5344CB8AC3E}">
        <p14:creationId xmlns:p14="http://schemas.microsoft.com/office/powerpoint/2010/main" val="24244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21F548-46C6-6490-37D8-8350140A0410}"/>
              </a:ext>
            </a:extLst>
          </p:cNvPr>
          <p:cNvSpPr txBox="1"/>
          <p:nvPr/>
        </p:nvSpPr>
        <p:spPr>
          <a:xfrm>
            <a:off x="538480" y="289679"/>
            <a:ext cx="8351520" cy="1938992"/>
          </a:xfrm>
          <a:prstGeom prst="rect">
            <a:avLst/>
          </a:prstGeom>
          <a:noFill/>
        </p:spPr>
        <p:txBody>
          <a:bodyPr wrap="square">
            <a:spAutoFit/>
          </a:bodyPr>
          <a:lstStyle/>
          <a:p>
            <a:r>
              <a:rPr lang="en-IN" sz="2000" b="1" dirty="0"/>
              <a:t>Popular SQL Database Systems</a:t>
            </a:r>
          </a:p>
          <a:p>
            <a:pPr>
              <a:buFont typeface="+mj-lt"/>
              <a:buAutoNum type="arabicPeriod"/>
            </a:pPr>
            <a:r>
              <a:rPr lang="en-IN" sz="2000" b="1" dirty="0"/>
              <a:t>MySQL</a:t>
            </a:r>
            <a:r>
              <a:rPr lang="en-IN" sz="2000" dirty="0"/>
              <a:t>: Open-source and widely used for web applications.</a:t>
            </a:r>
          </a:p>
          <a:p>
            <a:pPr>
              <a:buFont typeface="+mj-lt"/>
              <a:buAutoNum type="arabicPeriod"/>
            </a:pPr>
            <a:r>
              <a:rPr lang="en-IN" sz="2000" b="1" dirty="0"/>
              <a:t>PostgreSQL</a:t>
            </a:r>
            <a:r>
              <a:rPr lang="en-IN" sz="2000" dirty="0"/>
              <a:t>: Advanced features and high reliability.</a:t>
            </a:r>
          </a:p>
          <a:p>
            <a:pPr>
              <a:buFont typeface="+mj-lt"/>
              <a:buAutoNum type="arabicPeriod"/>
            </a:pPr>
            <a:r>
              <a:rPr lang="en-IN" sz="2000" b="1" dirty="0"/>
              <a:t>Microsoft SQL Server</a:t>
            </a:r>
            <a:r>
              <a:rPr lang="en-IN" sz="2000" dirty="0"/>
              <a:t>: Enterprise-level database with robust tools.</a:t>
            </a:r>
          </a:p>
          <a:p>
            <a:pPr>
              <a:buFont typeface="+mj-lt"/>
              <a:buAutoNum type="arabicPeriod"/>
            </a:pPr>
            <a:r>
              <a:rPr lang="en-IN" sz="2000" b="1" dirty="0"/>
              <a:t>Oracle Database</a:t>
            </a:r>
            <a:r>
              <a:rPr lang="en-IN" sz="2000" dirty="0"/>
              <a:t>: Scalable, enterprise-grade database system.</a:t>
            </a:r>
          </a:p>
          <a:p>
            <a:pPr>
              <a:buFont typeface="+mj-lt"/>
              <a:buAutoNum type="arabicPeriod"/>
            </a:pPr>
            <a:r>
              <a:rPr lang="en-IN" sz="2000" b="1" dirty="0"/>
              <a:t>SQLite</a:t>
            </a:r>
            <a:r>
              <a:rPr lang="en-IN" sz="2000" dirty="0"/>
              <a:t>: Lightweight, serverless database often used in mobile applications.</a:t>
            </a:r>
          </a:p>
        </p:txBody>
      </p:sp>
    </p:spTree>
    <p:extLst>
      <p:ext uri="{BB962C8B-B14F-4D97-AF65-F5344CB8AC3E}">
        <p14:creationId xmlns:p14="http://schemas.microsoft.com/office/powerpoint/2010/main" val="381719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 Quick Refresher on All the Commonly used SQL Commands!">
            <a:extLst>
              <a:ext uri="{FF2B5EF4-FFF2-40B4-BE49-F238E27FC236}">
                <a16:creationId xmlns:a16="http://schemas.microsoft.com/office/drawing/2014/main" id="{95841E31-8251-C593-3251-E79DE78E4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5233"/>
            <a:ext cx="9144000" cy="51577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B96DB87-EEA4-EA30-7138-8B75E706817A}"/>
              </a:ext>
            </a:extLst>
          </p:cNvPr>
          <p:cNvSpPr txBox="1"/>
          <p:nvPr/>
        </p:nvSpPr>
        <p:spPr>
          <a:xfrm>
            <a:off x="3129280" y="314960"/>
            <a:ext cx="2507418" cy="523220"/>
          </a:xfrm>
          <a:prstGeom prst="rect">
            <a:avLst/>
          </a:prstGeom>
          <a:noFill/>
        </p:spPr>
        <p:txBody>
          <a:bodyPr wrap="none" rtlCol="0">
            <a:spAutoFit/>
          </a:bodyPr>
          <a:lstStyle/>
          <a:p>
            <a:r>
              <a:rPr lang="en-IN" sz="2800" b="1" dirty="0"/>
              <a:t>SQL Commands</a:t>
            </a:r>
          </a:p>
        </p:txBody>
      </p:sp>
    </p:spTree>
    <p:extLst>
      <p:ext uri="{BB962C8B-B14F-4D97-AF65-F5344CB8AC3E}">
        <p14:creationId xmlns:p14="http://schemas.microsoft.com/office/powerpoint/2010/main" val="90772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9CEC58-CD39-996A-679D-ADA522E611FE}"/>
              </a:ext>
            </a:extLst>
          </p:cNvPr>
          <p:cNvSpPr txBox="1"/>
          <p:nvPr/>
        </p:nvSpPr>
        <p:spPr>
          <a:xfrm>
            <a:off x="467360" y="442298"/>
            <a:ext cx="8056880" cy="5663089"/>
          </a:xfrm>
          <a:prstGeom prst="rect">
            <a:avLst/>
          </a:prstGeom>
          <a:noFill/>
        </p:spPr>
        <p:txBody>
          <a:bodyPr wrap="square">
            <a:spAutoFit/>
          </a:bodyPr>
          <a:lstStyle/>
          <a:p>
            <a:r>
              <a:rPr lang="en-IN" sz="2000" b="1" dirty="0">
                <a:solidFill>
                  <a:srgbClr val="FF0000"/>
                </a:solidFill>
                <a:highlight>
                  <a:srgbClr val="FFFF00"/>
                </a:highlight>
              </a:rPr>
              <a:t>Data Definition Language (DDL)</a:t>
            </a:r>
          </a:p>
          <a:p>
            <a:r>
              <a:rPr lang="en-IN" dirty="0"/>
              <a:t>DDL commands define and modify the structure of database objects like tables, indexes, and schemas.</a:t>
            </a:r>
          </a:p>
          <a:p>
            <a:endParaRPr lang="en-IN" dirty="0"/>
          </a:p>
          <a:p>
            <a:pPr marL="342900" indent="-342900">
              <a:buAutoNum type="alphaLcPeriod"/>
            </a:pPr>
            <a:r>
              <a:rPr lang="en-IN" b="1" dirty="0">
                <a:highlight>
                  <a:srgbClr val="FFFF00"/>
                </a:highlight>
              </a:rPr>
              <a:t>CREATE</a:t>
            </a:r>
          </a:p>
          <a:p>
            <a:r>
              <a:rPr lang="en-IN" dirty="0"/>
              <a:t>Used to create a new database or table.</a:t>
            </a:r>
          </a:p>
          <a:p>
            <a:endParaRPr lang="en-IN" dirty="0"/>
          </a:p>
          <a:p>
            <a:r>
              <a:rPr lang="en-IN" dirty="0"/>
              <a:t>Syntax:</a:t>
            </a:r>
          </a:p>
          <a:p>
            <a:r>
              <a:rPr lang="en-IN" dirty="0"/>
              <a:t>CREATE TABLE </a:t>
            </a:r>
            <a:r>
              <a:rPr lang="en-IN" dirty="0" err="1"/>
              <a:t>table_name</a:t>
            </a:r>
            <a:r>
              <a:rPr lang="en-IN" dirty="0"/>
              <a:t> (    </a:t>
            </a:r>
          </a:p>
          <a:p>
            <a:r>
              <a:rPr lang="en-IN" dirty="0"/>
              <a:t>column1 datatype constraint,    </a:t>
            </a:r>
          </a:p>
          <a:p>
            <a:r>
              <a:rPr lang="en-IN" dirty="0"/>
              <a:t>column2 datatype constraint,    </a:t>
            </a:r>
          </a:p>
          <a:p>
            <a:r>
              <a:rPr lang="en-IN" dirty="0"/>
              <a:t>...);</a:t>
            </a:r>
          </a:p>
          <a:p>
            <a:endParaRPr lang="en-IN" dirty="0"/>
          </a:p>
          <a:p>
            <a:r>
              <a:rPr lang="en-IN" dirty="0"/>
              <a:t>Example</a:t>
            </a:r>
          </a:p>
          <a:p>
            <a:r>
              <a:rPr lang="en-US" dirty="0"/>
              <a:t>CREATE TABLE Employees ( </a:t>
            </a:r>
          </a:p>
          <a:p>
            <a:r>
              <a:rPr lang="en-US" dirty="0" err="1"/>
              <a:t>EmployeeID</a:t>
            </a:r>
            <a:r>
              <a:rPr lang="en-US" dirty="0"/>
              <a:t> INT PRIMARY KEY, </a:t>
            </a:r>
          </a:p>
          <a:p>
            <a:r>
              <a:rPr lang="en-US" dirty="0"/>
              <a:t>Name VARCHAR(50), </a:t>
            </a:r>
          </a:p>
          <a:p>
            <a:r>
              <a:rPr lang="en-US" dirty="0"/>
              <a:t>Age INT, </a:t>
            </a:r>
          </a:p>
          <a:p>
            <a:r>
              <a:rPr lang="en-US" dirty="0"/>
              <a:t>Department VARCHAR(50) </a:t>
            </a:r>
          </a:p>
          <a:p>
            <a:r>
              <a:rPr lang="en-US" dirty="0"/>
              <a:t>);</a:t>
            </a:r>
            <a:endParaRPr lang="en-IN" dirty="0"/>
          </a:p>
        </p:txBody>
      </p:sp>
    </p:spTree>
    <p:extLst>
      <p:ext uri="{BB962C8B-B14F-4D97-AF65-F5344CB8AC3E}">
        <p14:creationId xmlns:p14="http://schemas.microsoft.com/office/powerpoint/2010/main" val="2077659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427C3-05E5-46E9-607F-E8E5FA1D81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D8CB9C-B45B-35DC-2672-010C04026087}"/>
              </a:ext>
            </a:extLst>
          </p:cNvPr>
          <p:cNvSpPr txBox="1"/>
          <p:nvPr/>
        </p:nvSpPr>
        <p:spPr>
          <a:xfrm>
            <a:off x="467360" y="357277"/>
            <a:ext cx="8128000" cy="5909310"/>
          </a:xfrm>
          <a:prstGeom prst="rect">
            <a:avLst/>
          </a:prstGeom>
          <a:noFill/>
        </p:spPr>
        <p:txBody>
          <a:bodyPr wrap="square">
            <a:spAutoFit/>
          </a:bodyPr>
          <a:lstStyle/>
          <a:p>
            <a:r>
              <a:rPr lang="en-IN" dirty="0"/>
              <a:t>b. </a:t>
            </a:r>
            <a:r>
              <a:rPr lang="en-IN" b="1" dirty="0">
                <a:highlight>
                  <a:srgbClr val="FFFF00"/>
                </a:highlight>
              </a:rPr>
              <a:t>ALTER</a:t>
            </a:r>
          </a:p>
          <a:p>
            <a:r>
              <a:rPr lang="en-IN" dirty="0"/>
              <a:t>Used to modify an existing table's structure (e.g., add, drop or rename columns).</a:t>
            </a:r>
          </a:p>
          <a:p>
            <a:r>
              <a:rPr lang="en-IN" dirty="0"/>
              <a:t>Syntax:</a:t>
            </a:r>
          </a:p>
          <a:p>
            <a:r>
              <a:rPr lang="en-IN" dirty="0"/>
              <a:t>ALTER TABLE </a:t>
            </a:r>
            <a:r>
              <a:rPr lang="en-IN" dirty="0" err="1"/>
              <a:t>table_name</a:t>
            </a:r>
            <a:endParaRPr lang="en-IN" dirty="0"/>
          </a:p>
          <a:p>
            <a:r>
              <a:rPr lang="en-IN" dirty="0"/>
              <a:t>ADD </a:t>
            </a:r>
            <a:r>
              <a:rPr lang="en-IN" dirty="0" err="1"/>
              <a:t>column_name</a:t>
            </a:r>
            <a:r>
              <a:rPr lang="en-IN" dirty="0"/>
              <a:t> datatype constraint;</a:t>
            </a:r>
          </a:p>
          <a:p>
            <a:endParaRPr lang="en-IN" dirty="0"/>
          </a:p>
          <a:p>
            <a:r>
              <a:rPr lang="en-US" dirty="0"/>
              <a:t>ALTER TABLE </a:t>
            </a:r>
            <a:r>
              <a:rPr lang="en-US" dirty="0" err="1"/>
              <a:t>table_name</a:t>
            </a:r>
            <a:endParaRPr lang="en-US" dirty="0"/>
          </a:p>
          <a:p>
            <a:r>
              <a:rPr lang="en-US" dirty="0"/>
              <a:t>DROP COLUMN </a:t>
            </a:r>
            <a:r>
              <a:rPr lang="en-US" dirty="0" err="1"/>
              <a:t>column_name</a:t>
            </a:r>
            <a:r>
              <a:rPr lang="en-US" dirty="0"/>
              <a:t>;</a:t>
            </a:r>
          </a:p>
          <a:p>
            <a:endParaRPr lang="en-US" dirty="0"/>
          </a:p>
          <a:p>
            <a:r>
              <a:rPr lang="en-US" dirty="0"/>
              <a:t>ALTER TABLE </a:t>
            </a:r>
            <a:r>
              <a:rPr lang="en-US" dirty="0" err="1"/>
              <a:t>table_name</a:t>
            </a:r>
            <a:endParaRPr lang="en-US" dirty="0"/>
          </a:p>
          <a:p>
            <a:r>
              <a:rPr lang="en-US" dirty="0"/>
              <a:t>MODIFY COLUMN </a:t>
            </a:r>
            <a:r>
              <a:rPr lang="en-US" dirty="0" err="1"/>
              <a:t>column_name</a:t>
            </a:r>
            <a:r>
              <a:rPr lang="en-US" dirty="0"/>
              <a:t> datatype;</a:t>
            </a:r>
          </a:p>
          <a:p>
            <a:endParaRPr lang="en-US" dirty="0"/>
          </a:p>
          <a:p>
            <a:r>
              <a:rPr lang="en-US" dirty="0"/>
              <a:t>ALTER TABLE </a:t>
            </a:r>
            <a:r>
              <a:rPr lang="en-US" dirty="0" err="1"/>
              <a:t>old_table_name</a:t>
            </a:r>
            <a:endParaRPr lang="en-US" dirty="0"/>
          </a:p>
          <a:p>
            <a:r>
              <a:rPr lang="en-US" dirty="0"/>
              <a:t>RENAME </a:t>
            </a:r>
            <a:r>
              <a:rPr lang="en-US" dirty="0" err="1"/>
              <a:t>new_table_name</a:t>
            </a:r>
            <a:r>
              <a:rPr lang="en-US" dirty="0"/>
              <a:t>;</a:t>
            </a:r>
          </a:p>
          <a:p>
            <a:endParaRPr lang="en-US" dirty="0"/>
          </a:p>
          <a:p>
            <a:r>
              <a:rPr lang="en-US" b="0" i="0" dirty="0">
                <a:solidFill>
                  <a:srgbClr val="040C28"/>
                </a:solidFill>
                <a:effectLst/>
                <a:latin typeface="Google Sans"/>
              </a:rPr>
              <a:t>ALTER TABLE </a:t>
            </a:r>
            <a:r>
              <a:rPr lang="en-US" b="0" i="0" dirty="0" err="1">
                <a:solidFill>
                  <a:srgbClr val="040C28"/>
                </a:solidFill>
                <a:effectLst/>
                <a:latin typeface="Google Sans"/>
              </a:rPr>
              <a:t>table_name</a:t>
            </a:r>
            <a:r>
              <a:rPr lang="en-US" b="0" i="0" dirty="0">
                <a:solidFill>
                  <a:srgbClr val="040C28"/>
                </a:solidFill>
                <a:effectLst/>
                <a:latin typeface="Google Sans"/>
              </a:rPr>
              <a:t> </a:t>
            </a:r>
          </a:p>
          <a:p>
            <a:r>
              <a:rPr lang="en-US" b="0" i="0" dirty="0">
                <a:solidFill>
                  <a:srgbClr val="040C28"/>
                </a:solidFill>
                <a:effectLst/>
                <a:latin typeface="Google Sans"/>
              </a:rPr>
              <a:t>DROP COLUMN </a:t>
            </a:r>
            <a:r>
              <a:rPr lang="en-US" b="0" i="0" dirty="0" err="1">
                <a:solidFill>
                  <a:srgbClr val="040C28"/>
                </a:solidFill>
                <a:effectLst/>
                <a:latin typeface="Google Sans"/>
              </a:rPr>
              <a:t>column_name</a:t>
            </a:r>
            <a:r>
              <a:rPr lang="en-US" b="0" i="0" dirty="0">
                <a:solidFill>
                  <a:srgbClr val="1F1F1F"/>
                </a:solidFill>
                <a:effectLst/>
                <a:latin typeface="Google Sans"/>
              </a:rPr>
              <a:t>;</a:t>
            </a:r>
            <a:endParaRPr lang="en-IN" dirty="0"/>
          </a:p>
          <a:p>
            <a:endParaRPr lang="en-IN" dirty="0"/>
          </a:p>
          <a:p>
            <a:r>
              <a:rPr lang="en-IN" dirty="0"/>
              <a:t>Example:</a:t>
            </a:r>
          </a:p>
          <a:p>
            <a:r>
              <a:rPr lang="en-IN" dirty="0"/>
              <a:t>ALTER TABLE Employees</a:t>
            </a:r>
          </a:p>
          <a:p>
            <a:r>
              <a:rPr lang="en-IN" dirty="0"/>
              <a:t>ADD Salary DECIMAL(10, 2);</a:t>
            </a:r>
          </a:p>
        </p:txBody>
      </p:sp>
    </p:spTree>
    <p:extLst>
      <p:ext uri="{BB962C8B-B14F-4D97-AF65-F5344CB8AC3E}">
        <p14:creationId xmlns:p14="http://schemas.microsoft.com/office/powerpoint/2010/main" val="1564544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5FBE0C-A514-9FB0-789B-15C0C95E4BBD}"/>
              </a:ext>
            </a:extLst>
          </p:cNvPr>
          <p:cNvSpPr txBox="1"/>
          <p:nvPr/>
        </p:nvSpPr>
        <p:spPr>
          <a:xfrm>
            <a:off x="467360" y="400596"/>
            <a:ext cx="8087360" cy="2031325"/>
          </a:xfrm>
          <a:prstGeom prst="rect">
            <a:avLst/>
          </a:prstGeom>
          <a:noFill/>
        </p:spPr>
        <p:txBody>
          <a:bodyPr wrap="square">
            <a:spAutoFit/>
          </a:bodyPr>
          <a:lstStyle/>
          <a:p>
            <a:r>
              <a:rPr lang="en-US" dirty="0"/>
              <a:t>c. </a:t>
            </a:r>
            <a:r>
              <a:rPr lang="en-US" b="1" dirty="0">
                <a:highlight>
                  <a:srgbClr val="FFFF00"/>
                </a:highlight>
              </a:rPr>
              <a:t>DROP</a:t>
            </a:r>
          </a:p>
          <a:p>
            <a:r>
              <a:rPr lang="en-US" dirty="0"/>
              <a:t>Used to delete an existing database or table.</a:t>
            </a:r>
          </a:p>
          <a:p>
            <a:r>
              <a:rPr lang="en-US" dirty="0"/>
              <a:t>Syntax:</a:t>
            </a:r>
          </a:p>
          <a:p>
            <a:r>
              <a:rPr lang="en-US" dirty="0"/>
              <a:t>DROP TABLE </a:t>
            </a:r>
            <a:r>
              <a:rPr lang="en-US" dirty="0" err="1"/>
              <a:t>table_name</a:t>
            </a:r>
            <a:r>
              <a:rPr lang="en-US" dirty="0"/>
              <a:t>;</a:t>
            </a:r>
          </a:p>
          <a:p>
            <a:endParaRPr lang="en-US" dirty="0"/>
          </a:p>
          <a:p>
            <a:r>
              <a:rPr lang="en-US" dirty="0"/>
              <a:t>Example:</a:t>
            </a:r>
          </a:p>
          <a:p>
            <a:r>
              <a:rPr lang="en-US" dirty="0"/>
              <a:t>DROP TABLE Employees;</a:t>
            </a:r>
            <a:endParaRPr lang="en-IN" dirty="0"/>
          </a:p>
        </p:txBody>
      </p:sp>
    </p:spTree>
    <p:extLst>
      <p:ext uri="{BB962C8B-B14F-4D97-AF65-F5344CB8AC3E}">
        <p14:creationId xmlns:p14="http://schemas.microsoft.com/office/powerpoint/2010/main" val="1141604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1373E5-6B16-050F-0557-95B092F0163C}"/>
              </a:ext>
            </a:extLst>
          </p:cNvPr>
          <p:cNvSpPr txBox="1"/>
          <p:nvPr/>
        </p:nvSpPr>
        <p:spPr>
          <a:xfrm>
            <a:off x="436880" y="256739"/>
            <a:ext cx="8077200" cy="3724096"/>
          </a:xfrm>
          <a:prstGeom prst="rect">
            <a:avLst/>
          </a:prstGeom>
          <a:noFill/>
        </p:spPr>
        <p:txBody>
          <a:bodyPr wrap="square">
            <a:spAutoFit/>
          </a:bodyPr>
          <a:lstStyle/>
          <a:p>
            <a:pPr algn="ctr"/>
            <a:r>
              <a:rPr lang="en-IN" sz="2000" b="1" dirty="0">
                <a:solidFill>
                  <a:srgbClr val="FF0000"/>
                </a:solidFill>
                <a:highlight>
                  <a:srgbClr val="FFFF00"/>
                </a:highlight>
              </a:rPr>
              <a:t>2. Data Manipulation Language (DML)</a:t>
            </a:r>
          </a:p>
          <a:p>
            <a:r>
              <a:rPr lang="en-IN" dirty="0"/>
              <a:t>DML commands are used to manipulate data within tables.</a:t>
            </a:r>
          </a:p>
          <a:p>
            <a:pPr marL="342900" indent="-342900">
              <a:buAutoNum type="alphaLcPeriod"/>
            </a:pPr>
            <a:r>
              <a:rPr lang="en-IN" b="1" dirty="0">
                <a:highlight>
                  <a:srgbClr val="FFFF00"/>
                </a:highlight>
              </a:rPr>
              <a:t>INSERT</a:t>
            </a:r>
          </a:p>
          <a:p>
            <a:r>
              <a:rPr lang="en-IN" dirty="0"/>
              <a:t>Used to add new rows to a table.</a:t>
            </a:r>
          </a:p>
          <a:p>
            <a:r>
              <a:rPr lang="en-IN" dirty="0"/>
              <a:t>Syntax:</a:t>
            </a:r>
          </a:p>
          <a:p>
            <a:r>
              <a:rPr lang="en-IN" dirty="0"/>
              <a:t>INSERT INTO </a:t>
            </a:r>
            <a:r>
              <a:rPr lang="en-IN" dirty="0" err="1"/>
              <a:t>table_name</a:t>
            </a:r>
            <a:r>
              <a:rPr lang="en-IN" dirty="0"/>
              <a:t> </a:t>
            </a:r>
          </a:p>
          <a:p>
            <a:r>
              <a:rPr lang="en-IN" dirty="0"/>
              <a:t>(column1, column2, ...)</a:t>
            </a:r>
          </a:p>
          <a:p>
            <a:r>
              <a:rPr lang="en-IN" dirty="0"/>
              <a:t>VALUES </a:t>
            </a:r>
          </a:p>
          <a:p>
            <a:r>
              <a:rPr lang="en-IN" dirty="0"/>
              <a:t>(value1, value2, ...);</a:t>
            </a:r>
          </a:p>
          <a:p>
            <a:endParaRPr lang="en-IN" dirty="0"/>
          </a:p>
          <a:p>
            <a:r>
              <a:rPr lang="en-IN" dirty="0"/>
              <a:t>Example:</a:t>
            </a:r>
          </a:p>
          <a:p>
            <a:r>
              <a:rPr lang="en-IN" dirty="0"/>
              <a:t>INSERT INTO Employees (</a:t>
            </a:r>
            <a:r>
              <a:rPr lang="en-IN" dirty="0" err="1"/>
              <a:t>EmployeeID</a:t>
            </a:r>
            <a:r>
              <a:rPr lang="en-IN" dirty="0"/>
              <a:t>, Name, Age, Department, Salary)</a:t>
            </a:r>
          </a:p>
          <a:p>
            <a:r>
              <a:rPr lang="en-IN" dirty="0"/>
              <a:t>VALUES (1, 'John Doe', 30, 'IT', 60000.00);</a:t>
            </a:r>
          </a:p>
        </p:txBody>
      </p:sp>
    </p:spTree>
    <p:extLst>
      <p:ext uri="{BB962C8B-B14F-4D97-AF65-F5344CB8AC3E}">
        <p14:creationId xmlns:p14="http://schemas.microsoft.com/office/powerpoint/2010/main" val="1742489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DD556-AADB-16CB-BA2D-20A54D260B84}"/>
              </a:ext>
            </a:extLst>
          </p:cNvPr>
          <p:cNvSpPr txBox="1"/>
          <p:nvPr/>
        </p:nvSpPr>
        <p:spPr>
          <a:xfrm>
            <a:off x="426720" y="367437"/>
            <a:ext cx="8341360" cy="5909310"/>
          </a:xfrm>
          <a:prstGeom prst="rect">
            <a:avLst/>
          </a:prstGeom>
          <a:noFill/>
        </p:spPr>
        <p:txBody>
          <a:bodyPr wrap="square">
            <a:spAutoFit/>
          </a:bodyPr>
          <a:lstStyle/>
          <a:p>
            <a:r>
              <a:rPr lang="en-IN" dirty="0"/>
              <a:t>b. </a:t>
            </a:r>
            <a:r>
              <a:rPr lang="en-IN" b="1" dirty="0">
                <a:highlight>
                  <a:srgbClr val="FFFF00"/>
                </a:highlight>
              </a:rPr>
              <a:t>UPDATE</a:t>
            </a:r>
          </a:p>
          <a:p>
            <a:r>
              <a:rPr lang="en-IN" dirty="0"/>
              <a:t>Used to modify existing rows in a table.</a:t>
            </a:r>
          </a:p>
          <a:p>
            <a:r>
              <a:rPr lang="en-IN" dirty="0"/>
              <a:t>Syntax:</a:t>
            </a:r>
          </a:p>
          <a:p>
            <a:r>
              <a:rPr lang="en-IN" dirty="0"/>
              <a:t>UPDATE </a:t>
            </a:r>
            <a:r>
              <a:rPr lang="en-IN" dirty="0" err="1"/>
              <a:t>table_name</a:t>
            </a:r>
            <a:endParaRPr lang="en-IN" dirty="0"/>
          </a:p>
          <a:p>
            <a:r>
              <a:rPr lang="en-IN" dirty="0"/>
              <a:t>SET column1 = value1, column2 = value2, ...</a:t>
            </a:r>
          </a:p>
          <a:p>
            <a:r>
              <a:rPr lang="en-IN" dirty="0"/>
              <a:t>WHERE condition;</a:t>
            </a:r>
          </a:p>
          <a:p>
            <a:endParaRPr lang="en-IN" dirty="0"/>
          </a:p>
          <a:p>
            <a:r>
              <a:rPr lang="en-IN" dirty="0"/>
              <a:t>Example:</a:t>
            </a:r>
          </a:p>
          <a:p>
            <a:r>
              <a:rPr lang="en-IN" dirty="0"/>
              <a:t>UPDATE Employees</a:t>
            </a:r>
          </a:p>
          <a:p>
            <a:r>
              <a:rPr lang="en-IN" dirty="0"/>
              <a:t>SET Salary = 65000.00</a:t>
            </a:r>
          </a:p>
          <a:p>
            <a:r>
              <a:rPr lang="en-IN" dirty="0"/>
              <a:t>WHERE </a:t>
            </a:r>
            <a:r>
              <a:rPr lang="en-IN" dirty="0" err="1"/>
              <a:t>EmployeeID</a:t>
            </a:r>
            <a:r>
              <a:rPr lang="en-IN" dirty="0"/>
              <a:t> = 1;</a:t>
            </a:r>
          </a:p>
          <a:p>
            <a:endParaRPr lang="en-IN" dirty="0"/>
          </a:p>
          <a:p>
            <a:r>
              <a:rPr lang="en-IN" dirty="0"/>
              <a:t>c. </a:t>
            </a:r>
            <a:r>
              <a:rPr lang="en-IN" b="1" dirty="0">
                <a:highlight>
                  <a:srgbClr val="FFFF00"/>
                </a:highlight>
              </a:rPr>
              <a:t>DELETE</a:t>
            </a:r>
          </a:p>
          <a:p>
            <a:r>
              <a:rPr lang="en-IN" dirty="0"/>
              <a:t>Used to delete rows from a table.</a:t>
            </a:r>
          </a:p>
          <a:p>
            <a:r>
              <a:rPr lang="en-IN" dirty="0"/>
              <a:t>Syntax:</a:t>
            </a:r>
          </a:p>
          <a:p>
            <a:r>
              <a:rPr lang="en-IN" dirty="0"/>
              <a:t>DELETE FROM </a:t>
            </a:r>
            <a:r>
              <a:rPr lang="en-IN" dirty="0" err="1"/>
              <a:t>table_name</a:t>
            </a:r>
            <a:endParaRPr lang="en-IN" dirty="0"/>
          </a:p>
          <a:p>
            <a:r>
              <a:rPr lang="en-IN" dirty="0"/>
              <a:t>WHERE condition;</a:t>
            </a:r>
          </a:p>
          <a:p>
            <a:endParaRPr lang="en-IN" dirty="0"/>
          </a:p>
          <a:p>
            <a:r>
              <a:rPr lang="en-IN" dirty="0"/>
              <a:t>Example:</a:t>
            </a:r>
          </a:p>
          <a:p>
            <a:r>
              <a:rPr lang="en-IN" dirty="0"/>
              <a:t>DELETE FROM Employees</a:t>
            </a:r>
          </a:p>
          <a:p>
            <a:r>
              <a:rPr lang="en-IN" dirty="0"/>
              <a:t>WHERE Age &lt; 25;</a:t>
            </a:r>
          </a:p>
        </p:txBody>
      </p:sp>
    </p:spTree>
    <p:extLst>
      <p:ext uri="{BB962C8B-B14F-4D97-AF65-F5344CB8AC3E}">
        <p14:creationId xmlns:p14="http://schemas.microsoft.com/office/powerpoint/2010/main" val="2107937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A3710A-CF73-5B7B-0215-ABE43FC4245C}"/>
              </a:ext>
            </a:extLst>
          </p:cNvPr>
          <p:cNvSpPr txBox="1"/>
          <p:nvPr/>
        </p:nvSpPr>
        <p:spPr>
          <a:xfrm>
            <a:off x="436880" y="384016"/>
            <a:ext cx="8229600" cy="3693319"/>
          </a:xfrm>
          <a:prstGeom prst="rect">
            <a:avLst/>
          </a:prstGeom>
          <a:noFill/>
        </p:spPr>
        <p:txBody>
          <a:bodyPr wrap="square">
            <a:spAutoFit/>
          </a:bodyPr>
          <a:lstStyle/>
          <a:p>
            <a:pPr algn="ctr"/>
            <a:r>
              <a:rPr lang="en-US" sz="2000" b="1" dirty="0">
                <a:solidFill>
                  <a:srgbClr val="FF0000"/>
                </a:solidFill>
                <a:highlight>
                  <a:srgbClr val="FFFF00"/>
                </a:highlight>
              </a:rPr>
              <a:t>3. Data Query Language</a:t>
            </a:r>
          </a:p>
          <a:p>
            <a:endParaRPr lang="en-US" dirty="0"/>
          </a:p>
          <a:p>
            <a:r>
              <a:rPr lang="en-US" b="1" dirty="0">
                <a:highlight>
                  <a:srgbClr val="FFFF00"/>
                </a:highlight>
              </a:rPr>
              <a:t>SELECT</a:t>
            </a:r>
          </a:p>
          <a:p>
            <a:r>
              <a:rPr lang="en-US" dirty="0"/>
              <a:t>Used to retrieve data from a table.</a:t>
            </a:r>
          </a:p>
          <a:p>
            <a:r>
              <a:rPr lang="en-US" dirty="0"/>
              <a:t>Syntax:</a:t>
            </a:r>
          </a:p>
          <a:p>
            <a:r>
              <a:rPr lang="en-US" dirty="0"/>
              <a:t>SELECT column1, column2, ...</a:t>
            </a:r>
          </a:p>
          <a:p>
            <a:r>
              <a:rPr lang="en-US" dirty="0"/>
              <a:t>FROM </a:t>
            </a:r>
            <a:r>
              <a:rPr lang="en-US" dirty="0" err="1"/>
              <a:t>table_name</a:t>
            </a:r>
            <a:endParaRPr lang="en-US" dirty="0"/>
          </a:p>
          <a:p>
            <a:r>
              <a:rPr lang="en-US" dirty="0"/>
              <a:t>WHERE condition;</a:t>
            </a:r>
          </a:p>
          <a:p>
            <a:endParaRPr lang="en-US" dirty="0"/>
          </a:p>
          <a:p>
            <a:r>
              <a:rPr lang="en-US" dirty="0"/>
              <a:t>Example:</a:t>
            </a:r>
          </a:p>
          <a:p>
            <a:r>
              <a:rPr lang="en-US" dirty="0"/>
              <a:t>SELECT Name, Department</a:t>
            </a:r>
          </a:p>
          <a:p>
            <a:r>
              <a:rPr lang="en-US" dirty="0"/>
              <a:t>FROM Employees</a:t>
            </a:r>
          </a:p>
          <a:p>
            <a:r>
              <a:rPr lang="en-US" dirty="0"/>
              <a:t>WHERE Age &gt; 25;</a:t>
            </a:r>
            <a:endParaRPr lang="en-IN" dirty="0"/>
          </a:p>
        </p:txBody>
      </p:sp>
    </p:spTree>
    <p:extLst>
      <p:ext uri="{BB962C8B-B14F-4D97-AF65-F5344CB8AC3E}">
        <p14:creationId xmlns:p14="http://schemas.microsoft.com/office/powerpoint/2010/main" val="231928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9D0391-F5D4-5CEE-B43F-A83E981A4490}"/>
              </a:ext>
            </a:extLst>
          </p:cNvPr>
          <p:cNvSpPr txBox="1"/>
          <p:nvPr/>
        </p:nvSpPr>
        <p:spPr>
          <a:xfrm>
            <a:off x="416560" y="408077"/>
            <a:ext cx="8117840" cy="5663089"/>
          </a:xfrm>
          <a:prstGeom prst="rect">
            <a:avLst/>
          </a:prstGeom>
          <a:noFill/>
        </p:spPr>
        <p:txBody>
          <a:bodyPr wrap="square">
            <a:spAutoFit/>
          </a:bodyPr>
          <a:lstStyle/>
          <a:p>
            <a:pPr algn="ctr"/>
            <a:r>
              <a:rPr lang="en-IN" sz="2000" b="1" dirty="0">
                <a:solidFill>
                  <a:srgbClr val="FF0000"/>
                </a:solidFill>
                <a:highlight>
                  <a:srgbClr val="FFFF00"/>
                </a:highlight>
              </a:rPr>
              <a:t>4. Data Control Language (DCL)</a:t>
            </a:r>
          </a:p>
          <a:p>
            <a:endParaRPr lang="en-IN" dirty="0"/>
          </a:p>
          <a:p>
            <a:r>
              <a:rPr lang="en-IN" dirty="0"/>
              <a:t>DCL commands manage user access and permissions.</a:t>
            </a:r>
          </a:p>
          <a:p>
            <a:endParaRPr lang="en-IN" dirty="0"/>
          </a:p>
          <a:p>
            <a:pPr marL="342900" indent="-342900">
              <a:buAutoNum type="alphaLcPeriod"/>
            </a:pPr>
            <a:r>
              <a:rPr lang="en-IN" dirty="0">
                <a:highlight>
                  <a:srgbClr val="FFFF00"/>
                </a:highlight>
              </a:rPr>
              <a:t>GRANT</a:t>
            </a:r>
          </a:p>
          <a:p>
            <a:r>
              <a:rPr lang="en-IN" dirty="0"/>
              <a:t>Provides specific privileges to a user.</a:t>
            </a:r>
          </a:p>
          <a:p>
            <a:r>
              <a:rPr lang="en-IN" dirty="0"/>
              <a:t>Syntax:</a:t>
            </a:r>
          </a:p>
          <a:p>
            <a:r>
              <a:rPr lang="en-IN" dirty="0"/>
              <a:t>GRANT privilege ON object TO user;</a:t>
            </a:r>
          </a:p>
          <a:p>
            <a:endParaRPr lang="en-IN" dirty="0"/>
          </a:p>
          <a:p>
            <a:r>
              <a:rPr lang="en-IN" dirty="0"/>
              <a:t>Example:</a:t>
            </a:r>
          </a:p>
          <a:p>
            <a:r>
              <a:rPr lang="en-IN" dirty="0"/>
              <a:t>GRANT SELECT, INSERT ON Employees TO User1;</a:t>
            </a:r>
          </a:p>
          <a:p>
            <a:endParaRPr lang="en-IN" dirty="0"/>
          </a:p>
          <a:p>
            <a:endParaRPr lang="en-IN" dirty="0"/>
          </a:p>
          <a:p>
            <a:r>
              <a:rPr lang="en-IN" dirty="0"/>
              <a:t>b. </a:t>
            </a:r>
            <a:r>
              <a:rPr lang="en-IN" dirty="0">
                <a:highlight>
                  <a:srgbClr val="FFFF00"/>
                </a:highlight>
              </a:rPr>
              <a:t>REVOKE</a:t>
            </a:r>
          </a:p>
          <a:p>
            <a:r>
              <a:rPr lang="en-IN" dirty="0"/>
              <a:t>Removes specific privileges from a user.</a:t>
            </a:r>
          </a:p>
          <a:p>
            <a:r>
              <a:rPr lang="en-IN" dirty="0"/>
              <a:t>Syntax:</a:t>
            </a:r>
          </a:p>
          <a:p>
            <a:r>
              <a:rPr lang="en-IN" dirty="0"/>
              <a:t>REVOKE privilege ON object FROM user;</a:t>
            </a:r>
          </a:p>
          <a:p>
            <a:endParaRPr lang="en-IN" dirty="0"/>
          </a:p>
          <a:p>
            <a:r>
              <a:rPr lang="en-IN" dirty="0"/>
              <a:t>Example:</a:t>
            </a:r>
          </a:p>
          <a:p>
            <a:r>
              <a:rPr lang="en-IN" dirty="0"/>
              <a:t>REVOKE INSERT ON Employees FROM User1;</a:t>
            </a:r>
          </a:p>
        </p:txBody>
      </p:sp>
    </p:spTree>
    <p:extLst>
      <p:ext uri="{BB962C8B-B14F-4D97-AF65-F5344CB8AC3E}">
        <p14:creationId xmlns:p14="http://schemas.microsoft.com/office/powerpoint/2010/main" val="8724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B67FAD-CF83-2000-BCB0-3662B9F2F379}"/>
              </a:ext>
            </a:extLst>
          </p:cNvPr>
          <p:cNvSpPr txBox="1"/>
          <p:nvPr/>
        </p:nvSpPr>
        <p:spPr>
          <a:xfrm>
            <a:off x="477520" y="415558"/>
            <a:ext cx="8229600" cy="5663089"/>
          </a:xfrm>
          <a:prstGeom prst="rect">
            <a:avLst/>
          </a:prstGeom>
          <a:noFill/>
        </p:spPr>
        <p:txBody>
          <a:bodyPr wrap="square">
            <a:spAutoFit/>
          </a:bodyPr>
          <a:lstStyle/>
          <a:p>
            <a:pPr algn="ctr"/>
            <a:r>
              <a:rPr lang="en-IN" sz="2000" b="1" dirty="0">
                <a:solidFill>
                  <a:srgbClr val="FF0000"/>
                </a:solidFill>
                <a:highlight>
                  <a:srgbClr val="FFFF00"/>
                </a:highlight>
              </a:rPr>
              <a:t>5. Transaction Control Language (TCL)</a:t>
            </a:r>
          </a:p>
          <a:p>
            <a:r>
              <a:rPr lang="en-IN" dirty="0"/>
              <a:t>TCL commands manage transactions in the database.</a:t>
            </a:r>
          </a:p>
          <a:p>
            <a:pPr marL="342900" indent="-342900">
              <a:buAutoNum type="alphaLcPeriod"/>
            </a:pPr>
            <a:r>
              <a:rPr lang="en-IN" dirty="0">
                <a:highlight>
                  <a:srgbClr val="FFFF00"/>
                </a:highlight>
              </a:rPr>
              <a:t>COMMIT</a:t>
            </a:r>
          </a:p>
          <a:p>
            <a:r>
              <a:rPr lang="en-IN" dirty="0"/>
              <a:t>Saves the current transaction permanently.</a:t>
            </a:r>
          </a:p>
          <a:p>
            <a:r>
              <a:rPr lang="en-IN" dirty="0"/>
              <a:t>Syntax:</a:t>
            </a:r>
          </a:p>
          <a:p>
            <a:r>
              <a:rPr lang="en-IN" dirty="0"/>
              <a:t>COMMIT;</a:t>
            </a:r>
          </a:p>
          <a:p>
            <a:endParaRPr lang="en-IN" dirty="0"/>
          </a:p>
          <a:p>
            <a:r>
              <a:rPr lang="en-IN" dirty="0"/>
              <a:t>Example:</a:t>
            </a:r>
          </a:p>
          <a:p>
            <a:r>
              <a:rPr lang="en-IN" dirty="0"/>
              <a:t>INSERT INTO Employees (</a:t>
            </a:r>
            <a:r>
              <a:rPr lang="en-IN" dirty="0" err="1"/>
              <a:t>EmployeeID</a:t>
            </a:r>
            <a:r>
              <a:rPr lang="en-IN" dirty="0"/>
              <a:t>, Name, Age, Department, Salary)</a:t>
            </a:r>
          </a:p>
          <a:p>
            <a:r>
              <a:rPr lang="en-IN" dirty="0"/>
              <a:t>VALUES (2, 'Jane Smith', 28, 'HR', 55000.00);</a:t>
            </a:r>
          </a:p>
          <a:p>
            <a:r>
              <a:rPr lang="en-IN" dirty="0"/>
              <a:t>COMMIT;</a:t>
            </a:r>
          </a:p>
          <a:p>
            <a:endParaRPr lang="en-IN" dirty="0"/>
          </a:p>
          <a:p>
            <a:r>
              <a:rPr lang="en-IN" dirty="0"/>
              <a:t>b. </a:t>
            </a:r>
            <a:r>
              <a:rPr lang="en-IN" dirty="0">
                <a:highlight>
                  <a:srgbClr val="FFFF00"/>
                </a:highlight>
              </a:rPr>
              <a:t>ROLLBACK</a:t>
            </a:r>
          </a:p>
          <a:p>
            <a:r>
              <a:rPr lang="en-IN" dirty="0"/>
              <a:t>Undoes the current transaction.</a:t>
            </a:r>
          </a:p>
          <a:p>
            <a:r>
              <a:rPr lang="en-IN" dirty="0" err="1"/>
              <a:t>Syntax:sqlCopyROLLBACK</a:t>
            </a:r>
            <a:r>
              <a:rPr lang="en-IN" dirty="0"/>
              <a:t>;</a:t>
            </a:r>
          </a:p>
          <a:p>
            <a:endParaRPr lang="en-IN" dirty="0"/>
          </a:p>
          <a:p>
            <a:r>
              <a:rPr lang="en-IN" dirty="0"/>
              <a:t>Example:</a:t>
            </a:r>
          </a:p>
          <a:p>
            <a:r>
              <a:rPr lang="en-IN" dirty="0"/>
              <a:t>DELETE FROM Employees</a:t>
            </a:r>
          </a:p>
          <a:p>
            <a:r>
              <a:rPr lang="en-IN" dirty="0"/>
              <a:t>WHERE Department = 'HR’;</a:t>
            </a:r>
          </a:p>
          <a:p>
            <a:r>
              <a:rPr lang="en-IN" dirty="0"/>
              <a:t>ROLLBACK;</a:t>
            </a:r>
          </a:p>
        </p:txBody>
      </p:sp>
    </p:spTree>
    <p:extLst>
      <p:ext uri="{BB962C8B-B14F-4D97-AF65-F5344CB8AC3E}">
        <p14:creationId xmlns:p14="http://schemas.microsoft.com/office/powerpoint/2010/main" val="3357230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251554-B1B3-816C-507D-3F6BD69824DE}"/>
              </a:ext>
            </a:extLst>
          </p:cNvPr>
          <p:cNvSpPr txBox="1"/>
          <p:nvPr/>
        </p:nvSpPr>
        <p:spPr>
          <a:xfrm>
            <a:off x="548640" y="411818"/>
            <a:ext cx="7904480" cy="3693319"/>
          </a:xfrm>
          <a:prstGeom prst="rect">
            <a:avLst/>
          </a:prstGeom>
          <a:noFill/>
        </p:spPr>
        <p:txBody>
          <a:bodyPr wrap="square">
            <a:spAutoFit/>
          </a:bodyPr>
          <a:lstStyle/>
          <a:p>
            <a:r>
              <a:rPr lang="en-IN" dirty="0"/>
              <a:t>c. </a:t>
            </a:r>
            <a:r>
              <a:rPr lang="en-IN" dirty="0">
                <a:highlight>
                  <a:srgbClr val="FFFF00"/>
                </a:highlight>
              </a:rPr>
              <a:t>SAVEPOINT</a:t>
            </a:r>
          </a:p>
          <a:p>
            <a:r>
              <a:rPr lang="en-IN" dirty="0"/>
              <a:t>Sets a </a:t>
            </a:r>
            <a:r>
              <a:rPr lang="en-IN" dirty="0" err="1"/>
              <a:t>savepoint</a:t>
            </a:r>
            <a:r>
              <a:rPr lang="en-IN" dirty="0"/>
              <a:t> within a transaction, allowing partial rollbacks.</a:t>
            </a:r>
          </a:p>
          <a:p>
            <a:r>
              <a:rPr lang="en-IN" dirty="0"/>
              <a:t>Syntax:</a:t>
            </a:r>
          </a:p>
          <a:p>
            <a:r>
              <a:rPr lang="en-IN" dirty="0"/>
              <a:t>SAVEPOINT </a:t>
            </a:r>
            <a:r>
              <a:rPr lang="en-IN" dirty="0" err="1"/>
              <a:t>savepoint_name</a:t>
            </a:r>
            <a:r>
              <a:rPr lang="en-IN" dirty="0"/>
              <a:t>;</a:t>
            </a:r>
          </a:p>
          <a:p>
            <a:endParaRPr lang="en-IN" dirty="0"/>
          </a:p>
          <a:p>
            <a:r>
              <a:rPr lang="en-IN" dirty="0"/>
              <a:t>Example:</a:t>
            </a:r>
          </a:p>
          <a:p>
            <a:r>
              <a:rPr lang="en-IN" dirty="0"/>
              <a:t>SAVEPOINT Savepoint1;</a:t>
            </a:r>
          </a:p>
          <a:p>
            <a:endParaRPr lang="en-IN" dirty="0"/>
          </a:p>
          <a:p>
            <a:r>
              <a:rPr lang="en-IN" dirty="0"/>
              <a:t>UPDATE Employees</a:t>
            </a:r>
          </a:p>
          <a:p>
            <a:r>
              <a:rPr lang="en-IN" dirty="0"/>
              <a:t>SET Salary = 70000.00</a:t>
            </a:r>
          </a:p>
          <a:p>
            <a:r>
              <a:rPr lang="en-IN" dirty="0"/>
              <a:t>WHERE </a:t>
            </a:r>
            <a:r>
              <a:rPr lang="en-IN" dirty="0" err="1"/>
              <a:t>EmployeeID</a:t>
            </a:r>
            <a:r>
              <a:rPr lang="en-IN" dirty="0"/>
              <a:t> = 1;</a:t>
            </a:r>
          </a:p>
          <a:p>
            <a:endParaRPr lang="en-IN" dirty="0"/>
          </a:p>
          <a:p>
            <a:r>
              <a:rPr lang="en-IN" dirty="0"/>
              <a:t>ROLLBACK TO Savepoint1;</a:t>
            </a:r>
          </a:p>
        </p:txBody>
      </p:sp>
    </p:spTree>
    <p:extLst>
      <p:ext uri="{BB962C8B-B14F-4D97-AF65-F5344CB8AC3E}">
        <p14:creationId xmlns:p14="http://schemas.microsoft.com/office/powerpoint/2010/main" val="319650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459C63-7BFB-3F52-16FE-89D61C17CA34}"/>
              </a:ext>
            </a:extLst>
          </p:cNvPr>
          <p:cNvSpPr txBox="1"/>
          <p:nvPr/>
        </p:nvSpPr>
        <p:spPr>
          <a:xfrm>
            <a:off x="416560" y="386140"/>
            <a:ext cx="8402320" cy="6247864"/>
          </a:xfrm>
          <a:prstGeom prst="rect">
            <a:avLst/>
          </a:prstGeom>
          <a:noFill/>
        </p:spPr>
        <p:txBody>
          <a:bodyPr wrap="square">
            <a:spAutoFit/>
          </a:bodyPr>
          <a:lstStyle/>
          <a:p>
            <a:pPr algn="ctr"/>
            <a:r>
              <a:rPr lang="en-US" sz="2000" b="1" i="0" dirty="0">
                <a:solidFill>
                  <a:srgbClr val="FF0000"/>
                </a:solidFill>
                <a:effectLst/>
                <a:highlight>
                  <a:srgbClr val="FFFF00"/>
                </a:highlight>
                <a:latin typeface="Montserrat" panose="00000500000000000000" pitchFamily="2" charset="0"/>
              </a:rPr>
              <a:t>MySQL Constraints</a:t>
            </a:r>
          </a:p>
          <a:p>
            <a:pPr algn="ctr"/>
            <a:endParaRPr lang="en-US" sz="2000" b="1" i="0" dirty="0">
              <a:solidFill>
                <a:srgbClr val="FF0000"/>
              </a:solidFill>
              <a:effectLst/>
              <a:highlight>
                <a:srgbClr val="FFFF00"/>
              </a:highlight>
              <a:latin typeface="Montserrat" panose="00000500000000000000" pitchFamily="2" charset="0"/>
            </a:endParaRPr>
          </a:p>
          <a:p>
            <a:pPr marL="285750" indent="-285750" algn="just">
              <a:buFont typeface="Courier New" panose="02070309020205020404" pitchFamily="49" charset="0"/>
              <a:buChar char="o"/>
            </a:pPr>
            <a:r>
              <a:rPr lang="en-US" b="0" i="0" dirty="0">
                <a:solidFill>
                  <a:srgbClr val="333333"/>
                </a:solidFill>
                <a:effectLst/>
                <a:latin typeface="Montserrat" panose="00000500000000000000" pitchFamily="2" charset="0"/>
              </a:rPr>
              <a:t>The constraint in MySQL is used to specify the rule that allows or restricts what values/data will be stored in the table. </a:t>
            </a:r>
          </a:p>
          <a:p>
            <a:pPr marL="285750" indent="-285750" algn="just">
              <a:buFont typeface="Courier New" panose="02070309020205020404" pitchFamily="49" charset="0"/>
              <a:buChar char="o"/>
            </a:pPr>
            <a:r>
              <a:rPr lang="en-US" b="0" i="0" dirty="0">
                <a:solidFill>
                  <a:srgbClr val="333333"/>
                </a:solidFill>
                <a:effectLst/>
                <a:latin typeface="Montserrat" panose="00000500000000000000" pitchFamily="2" charset="0"/>
              </a:rPr>
              <a:t>They provide a suitable method to ensure data accuracy and integrity inside the table. </a:t>
            </a:r>
          </a:p>
          <a:p>
            <a:pPr marL="285750" indent="-285750" algn="just">
              <a:buFont typeface="Courier New" panose="02070309020205020404" pitchFamily="49" charset="0"/>
              <a:buChar char="o"/>
            </a:pPr>
            <a:r>
              <a:rPr lang="en-US" b="0" i="0" dirty="0">
                <a:solidFill>
                  <a:srgbClr val="333333"/>
                </a:solidFill>
                <a:effectLst/>
                <a:latin typeface="Montserrat" panose="00000500000000000000" pitchFamily="2" charset="0"/>
              </a:rPr>
              <a:t>It also helps to limit the type of data that will be inserted inside the table. </a:t>
            </a:r>
          </a:p>
          <a:p>
            <a:pPr marL="285750" indent="-285750" algn="just">
              <a:buFont typeface="Courier New" panose="02070309020205020404" pitchFamily="49" charset="0"/>
              <a:buChar char="o"/>
            </a:pPr>
            <a:r>
              <a:rPr lang="en-US" b="0" i="0" dirty="0">
                <a:solidFill>
                  <a:srgbClr val="333333"/>
                </a:solidFill>
                <a:effectLst/>
                <a:latin typeface="Montserrat" panose="00000500000000000000" pitchFamily="2" charset="0"/>
              </a:rPr>
              <a:t>If any interruption occurs between the constraint and data action, the action is failed.</a:t>
            </a:r>
          </a:p>
          <a:p>
            <a:pPr algn="just"/>
            <a:endParaRPr lang="en-US" dirty="0">
              <a:solidFill>
                <a:srgbClr val="333333"/>
              </a:solidFill>
              <a:latin typeface="Montserrat" panose="00000500000000000000" pitchFamily="2" charset="0"/>
            </a:endParaRPr>
          </a:p>
          <a:p>
            <a:pPr algn="l"/>
            <a:r>
              <a:rPr lang="en-US" b="0" i="0" dirty="0">
                <a:effectLst/>
                <a:latin typeface="Montserrat" panose="00000500000000000000" pitchFamily="2" charset="0"/>
              </a:rPr>
              <a:t>Constraints used in MySQL</a:t>
            </a:r>
          </a:p>
          <a:p>
            <a:pPr algn="just"/>
            <a:r>
              <a:rPr lang="en-US" b="0" i="0" dirty="0">
                <a:solidFill>
                  <a:srgbClr val="333333"/>
                </a:solidFill>
                <a:effectLst/>
                <a:latin typeface="Montserrat" panose="00000500000000000000" pitchFamily="2" charset="0"/>
              </a:rPr>
              <a:t>The following are the most common constraints used in the MySQL:</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NOT NULL</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CHECK</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DEFAULT</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PRIMARY KEY</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AUTO_INCREMENT</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UNIQUE</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INDEX</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ENUM</a:t>
            </a:r>
          </a:p>
          <a:p>
            <a:pPr marL="285750" indent="-285750" algn="just">
              <a:buFont typeface="Arial" panose="020B0604020202020204" pitchFamily="34" charset="0"/>
              <a:buChar char="•"/>
            </a:pPr>
            <a:r>
              <a:rPr lang="en-US" b="0" i="0" dirty="0">
                <a:solidFill>
                  <a:srgbClr val="333333"/>
                </a:solidFill>
                <a:effectLst/>
                <a:latin typeface="Montserrat" panose="00000500000000000000" pitchFamily="2" charset="0"/>
              </a:rPr>
              <a:t>FOREIGN KEY</a:t>
            </a:r>
          </a:p>
        </p:txBody>
      </p:sp>
    </p:spTree>
    <p:extLst>
      <p:ext uri="{BB962C8B-B14F-4D97-AF65-F5344CB8AC3E}">
        <p14:creationId xmlns:p14="http://schemas.microsoft.com/office/powerpoint/2010/main" val="3154224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E22F5C-0DFB-348E-13B4-0C57FEA259A1}"/>
              </a:ext>
            </a:extLst>
          </p:cNvPr>
          <p:cNvSpPr txBox="1"/>
          <p:nvPr/>
        </p:nvSpPr>
        <p:spPr>
          <a:xfrm>
            <a:off x="416560" y="388263"/>
            <a:ext cx="8260080" cy="3416320"/>
          </a:xfrm>
          <a:prstGeom prst="rect">
            <a:avLst/>
          </a:prstGeom>
          <a:noFill/>
        </p:spPr>
        <p:txBody>
          <a:bodyPr wrap="square">
            <a:spAutoFit/>
          </a:bodyPr>
          <a:lstStyle/>
          <a:p>
            <a:pPr algn="ctr"/>
            <a:r>
              <a:rPr lang="en-US" dirty="0">
                <a:highlight>
                  <a:srgbClr val="FFFF00"/>
                </a:highlight>
              </a:rPr>
              <a:t>NOT NULL Constraint</a:t>
            </a:r>
          </a:p>
          <a:p>
            <a:r>
              <a:rPr lang="en-US" dirty="0"/>
              <a:t>This constraint specifies that the column cannot have NULL or empty values. </a:t>
            </a:r>
          </a:p>
          <a:p>
            <a:endParaRPr lang="en-US" dirty="0"/>
          </a:p>
          <a:p>
            <a:r>
              <a:rPr lang="en-US" dirty="0" err="1"/>
              <a:t>mysql</a:t>
            </a:r>
            <a:r>
              <a:rPr lang="en-US" dirty="0"/>
              <a:t>&gt; CREATE TABLE Student(</a:t>
            </a:r>
          </a:p>
          <a:p>
            <a:r>
              <a:rPr lang="en-US" dirty="0"/>
              <a:t>Id INTEGER, </a:t>
            </a:r>
          </a:p>
          <a:p>
            <a:r>
              <a:rPr lang="en-US" dirty="0" err="1"/>
              <a:t>LastName</a:t>
            </a:r>
            <a:r>
              <a:rPr lang="en-US" dirty="0"/>
              <a:t> TEXT NOT NULL, </a:t>
            </a:r>
          </a:p>
          <a:p>
            <a:r>
              <a:rPr lang="en-US" dirty="0"/>
              <a:t>FirstName TEXT NOT NULL, </a:t>
            </a:r>
          </a:p>
          <a:p>
            <a:r>
              <a:rPr lang="en-US" dirty="0"/>
              <a:t>City VARCHAR(35));  </a:t>
            </a:r>
          </a:p>
          <a:p>
            <a:endParaRPr lang="en-US" dirty="0"/>
          </a:p>
          <a:p>
            <a:r>
              <a:rPr lang="en-US" dirty="0"/>
              <a:t>Execute the queries listed below to understand how it works:</a:t>
            </a:r>
          </a:p>
          <a:p>
            <a:r>
              <a:rPr lang="en-US" dirty="0" err="1"/>
              <a:t>mysql</a:t>
            </a:r>
            <a:r>
              <a:rPr lang="en-US" dirty="0"/>
              <a:t>&gt; INSERT INTO Student VALUES(1, 'Hanks', 'Peter', 'New York');  </a:t>
            </a:r>
          </a:p>
          <a:p>
            <a:r>
              <a:rPr lang="en-US" dirty="0" err="1"/>
              <a:t>mysql</a:t>
            </a:r>
            <a:r>
              <a:rPr lang="en-US" dirty="0"/>
              <a:t>&gt; INSERT INTO Student VALUES(2, NULL, 'Amanda', 'Florida'); </a:t>
            </a:r>
            <a:endParaRPr lang="en-IN" dirty="0"/>
          </a:p>
        </p:txBody>
      </p:sp>
      <p:pic>
        <p:nvPicPr>
          <p:cNvPr id="4" name="Picture 3">
            <a:extLst>
              <a:ext uri="{FF2B5EF4-FFF2-40B4-BE49-F238E27FC236}">
                <a16:creationId xmlns:a16="http://schemas.microsoft.com/office/drawing/2014/main" id="{21CFF115-6DA4-7A0D-1BE9-CD38E1026751}"/>
              </a:ext>
            </a:extLst>
          </p:cNvPr>
          <p:cNvPicPr>
            <a:picLocks noChangeAspect="1"/>
          </p:cNvPicPr>
          <p:nvPr/>
        </p:nvPicPr>
        <p:blipFill>
          <a:blip r:embed="rId2"/>
          <a:stretch>
            <a:fillRect/>
          </a:stretch>
        </p:blipFill>
        <p:spPr>
          <a:xfrm>
            <a:off x="399415" y="4231303"/>
            <a:ext cx="8277225" cy="1834217"/>
          </a:xfrm>
          <a:prstGeom prst="rect">
            <a:avLst/>
          </a:prstGeom>
        </p:spPr>
      </p:pic>
    </p:spTree>
    <p:extLst>
      <p:ext uri="{BB962C8B-B14F-4D97-AF65-F5344CB8AC3E}">
        <p14:creationId xmlns:p14="http://schemas.microsoft.com/office/powerpoint/2010/main" val="4237641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EDD1A1-7C9D-A8B3-0B10-582088269F4D}"/>
              </a:ext>
            </a:extLst>
          </p:cNvPr>
          <p:cNvSpPr txBox="1"/>
          <p:nvPr/>
        </p:nvSpPr>
        <p:spPr>
          <a:xfrm>
            <a:off x="365760" y="335845"/>
            <a:ext cx="8260080" cy="3139321"/>
          </a:xfrm>
          <a:prstGeom prst="rect">
            <a:avLst/>
          </a:prstGeom>
          <a:noFill/>
        </p:spPr>
        <p:txBody>
          <a:bodyPr wrap="square">
            <a:spAutoFit/>
          </a:bodyPr>
          <a:lstStyle/>
          <a:p>
            <a:pPr algn="ctr"/>
            <a:r>
              <a:rPr lang="en-US" dirty="0">
                <a:highlight>
                  <a:srgbClr val="FFFF00"/>
                </a:highlight>
              </a:rPr>
              <a:t>UNIQUE Constraint</a:t>
            </a:r>
          </a:p>
          <a:p>
            <a:r>
              <a:rPr lang="en-US" dirty="0"/>
              <a:t>This constraint ensures that all values inserted into the column will be unique. It means a column cannot stores duplicate values. MySQL allows us to use more than one column with UNIQUE constraint in a table. </a:t>
            </a:r>
          </a:p>
          <a:p>
            <a:endParaRPr lang="en-US" dirty="0"/>
          </a:p>
          <a:p>
            <a:r>
              <a:rPr lang="en-US" dirty="0" err="1"/>
              <a:t>mysql</a:t>
            </a:r>
            <a:r>
              <a:rPr lang="en-US" dirty="0"/>
              <a:t>&gt; CREATE TABLE </a:t>
            </a:r>
            <a:r>
              <a:rPr lang="en-US" dirty="0" err="1"/>
              <a:t>ShirtBrands</a:t>
            </a:r>
            <a:r>
              <a:rPr lang="en-US" dirty="0"/>
              <a:t>(Id INTEGER, </a:t>
            </a:r>
            <a:r>
              <a:rPr lang="en-US" dirty="0" err="1"/>
              <a:t>BrandName</a:t>
            </a:r>
            <a:r>
              <a:rPr lang="en-US" dirty="0"/>
              <a:t> VARCHAR(40) UNIQUE, Size VARCHAR(30));  </a:t>
            </a:r>
          </a:p>
          <a:p>
            <a:r>
              <a:rPr lang="en-US" dirty="0"/>
              <a:t>Execute the queries listed below to understand how it works:</a:t>
            </a:r>
          </a:p>
          <a:p>
            <a:endParaRPr lang="en-US" dirty="0"/>
          </a:p>
          <a:p>
            <a:r>
              <a:rPr lang="en-US" dirty="0" err="1"/>
              <a:t>mysql</a:t>
            </a:r>
            <a:r>
              <a:rPr lang="en-US" dirty="0"/>
              <a:t>&gt; INSERT INTO </a:t>
            </a:r>
            <a:r>
              <a:rPr lang="en-US" dirty="0" err="1"/>
              <a:t>ShirtBrands</a:t>
            </a:r>
            <a:r>
              <a:rPr lang="en-US" dirty="0"/>
              <a:t> VALUES(1, 'Pantaloons', 38), (2, '</a:t>
            </a:r>
            <a:r>
              <a:rPr lang="en-US" dirty="0" err="1"/>
              <a:t>Cantabil</a:t>
            </a:r>
            <a:r>
              <a:rPr lang="en-US" dirty="0"/>
              <a:t>', 40);  </a:t>
            </a:r>
          </a:p>
          <a:p>
            <a:r>
              <a:rPr lang="en-US" dirty="0"/>
              <a:t> </a:t>
            </a:r>
            <a:r>
              <a:rPr lang="en-US" dirty="0" err="1"/>
              <a:t>mysql</a:t>
            </a:r>
            <a:r>
              <a:rPr lang="en-US" dirty="0"/>
              <a:t>&gt; INSERT INTO </a:t>
            </a:r>
            <a:r>
              <a:rPr lang="en-US" dirty="0" err="1"/>
              <a:t>ShirtBrands</a:t>
            </a:r>
            <a:r>
              <a:rPr lang="en-US" dirty="0"/>
              <a:t> VALUES(3, 'Raymond', 38), (4, '</a:t>
            </a:r>
            <a:r>
              <a:rPr lang="en-US" dirty="0" err="1"/>
              <a:t>Cantabil</a:t>
            </a:r>
            <a:r>
              <a:rPr lang="en-US" dirty="0"/>
              <a:t>', 40); </a:t>
            </a:r>
            <a:endParaRPr lang="en-IN" dirty="0"/>
          </a:p>
        </p:txBody>
      </p:sp>
      <p:pic>
        <p:nvPicPr>
          <p:cNvPr id="6" name="Picture 5">
            <a:extLst>
              <a:ext uri="{FF2B5EF4-FFF2-40B4-BE49-F238E27FC236}">
                <a16:creationId xmlns:a16="http://schemas.microsoft.com/office/drawing/2014/main" id="{D78E2DB8-CA53-F517-C028-CE6EDCEF7EA0}"/>
              </a:ext>
            </a:extLst>
          </p:cNvPr>
          <p:cNvPicPr>
            <a:picLocks noChangeAspect="1"/>
          </p:cNvPicPr>
          <p:nvPr/>
        </p:nvPicPr>
        <p:blipFill>
          <a:blip r:embed="rId2"/>
          <a:stretch>
            <a:fillRect/>
          </a:stretch>
        </p:blipFill>
        <p:spPr>
          <a:xfrm>
            <a:off x="476250" y="3809047"/>
            <a:ext cx="8039100" cy="2114233"/>
          </a:xfrm>
          <a:prstGeom prst="rect">
            <a:avLst/>
          </a:prstGeom>
        </p:spPr>
      </p:pic>
    </p:spTree>
    <p:extLst>
      <p:ext uri="{BB962C8B-B14F-4D97-AF65-F5344CB8AC3E}">
        <p14:creationId xmlns:p14="http://schemas.microsoft.com/office/powerpoint/2010/main" val="3315535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C490D0-B949-2F70-9221-9E4D1FFCA436}"/>
              </a:ext>
            </a:extLst>
          </p:cNvPr>
          <p:cNvSpPr txBox="1"/>
          <p:nvPr/>
        </p:nvSpPr>
        <p:spPr>
          <a:xfrm>
            <a:off x="406400" y="317143"/>
            <a:ext cx="8310880" cy="5940088"/>
          </a:xfrm>
          <a:prstGeom prst="rect">
            <a:avLst/>
          </a:prstGeom>
          <a:noFill/>
        </p:spPr>
        <p:txBody>
          <a:bodyPr wrap="square">
            <a:spAutoFit/>
          </a:bodyPr>
          <a:lstStyle/>
          <a:p>
            <a:pPr algn="ctr"/>
            <a:r>
              <a:rPr lang="en-US" sz="2000" dirty="0">
                <a:highlight>
                  <a:srgbClr val="FFFF00"/>
                </a:highlight>
              </a:rPr>
              <a:t>CHECK Constraint</a:t>
            </a:r>
          </a:p>
          <a:p>
            <a:r>
              <a:rPr lang="en-US" dirty="0"/>
              <a:t>It controls the value in a particular column. It ensures that the inserted value in a column must be satisfied with the given condition. </a:t>
            </a:r>
          </a:p>
          <a:p>
            <a:endParaRPr lang="en-US" dirty="0"/>
          </a:p>
          <a:p>
            <a:r>
              <a:rPr lang="en-US" dirty="0"/>
              <a:t>[CONSTRAINT [symbol]] CHECK (expr) [[NOT] ENFORCED]  </a:t>
            </a:r>
          </a:p>
          <a:p>
            <a:endParaRPr lang="en-US" dirty="0"/>
          </a:p>
          <a:p>
            <a:r>
              <a:rPr lang="en-US" dirty="0"/>
              <a:t>For example, the following statement creates a table "Persons" that contains CHECK constraint on the "Age" column. The CHECK constraint ensures that the Age of a person should be greater than or equal to 18:</a:t>
            </a:r>
          </a:p>
          <a:p>
            <a:endParaRPr lang="en-US" dirty="0"/>
          </a:p>
          <a:p>
            <a:r>
              <a:rPr lang="en-US" dirty="0" err="1"/>
              <a:t>mysql</a:t>
            </a:r>
            <a:r>
              <a:rPr lang="en-US" dirty="0"/>
              <a:t>&gt; CREATE TABLE Persons (  </a:t>
            </a:r>
          </a:p>
          <a:p>
            <a:r>
              <a:rPr lang="en-US" dirty="0"/>
              <a:t>    ID int NOT NULL,  </a:t>
            </a:r>
          </a:p>
          <a:p>
            <a:r>
              <a:rPr lang="en-US" dirty="0"/>
              <a:t>    Name varchar(45) NOT NULL,  </a:t>
            </a:r>
          </a:p>
          <a:p>
            <a:r>
              <a:rPr lang="en-US" dirty="0"/>
              <a:t>    Age int CHECK (Age&gt;=18)  </a:t>
            </a:r>
          </a:p>
          <a:p>
            <a:r>
              <a:rPr lang="en-US" dirty="0"/>
              <a:t>);  </a:t>
            </a:r>
          </a:p>
          <a:p>
            <a:r>
              <a:rPr lang="en-US" dirty="0"/>
              <a:t>Execute the listed queries to insert the values into the table:</a:t>
            </a:r>
          </a:p>
          <a:p>
            <a:endParaRPr lang="en-US" dirty="0"/>
          </a:p>
          <a:p>
            <a:r>
              <a:rPr lang="en-US" dirty="0" err="1"/>
              <a:t>mysql</a:t>
            </a:r>
            <a:r>
              <a:rPr lang="en-US" dirty="0"/>
              <a:t>&gt; INSERT INTO Persons(Id, Name, Age)   </a:t>
            </a:r>
          </a:p>
          <a:p>
            <a:r>
              <a:rPr lang="en-US" dirty="0"/>
              <a:t>VALUES (1,'Robert', 28), (2, 'Joseph', 35), (3, 'Peter', 40);  </a:t>
            </a:r>
          </a:p>
          <a:p>
            <a:r>
              <a:rPr lang="en-US" dirty="0"/>
              <a:t>  </a:t>
            </a:r>
          </a:p>
          <a:p>
            <a:r>
              <a:rPr lang="en-US" dirty="0" err="1"/>
              <a:t>mysql</a:t>
            </a:r>
            <a:r>
              <a:rPr lang="en-US" dirty="0"/>
              <a:t>&gt; INSERT INTO Persons(Id, Name, Age) VALUES (1,'Robert', 15); </a:t>
            </a:r>
          </a:p>
        </p:txBody>
      </p:sp>
    </p:spTree>
    <p:extLst>
      <p:ext uri="{BB962C8B-B14F-4D97-AF65-F5344CB8AC3E}">
        <p14:creationId xmlns:p14="http://schemas.microsoft.com/office/powerpoint/2010/main" val="2106897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MySQL Constraints">
            <a:extLst>
              <a:ext uri="{FF2B5EF4-FFF2-40B4-BE49-F238E27FC236}">
                <a16:creationId xmlns:a16="http://schemas.microsoft.com/office/drawing/2014/main" id="{AF240BB5-450D-A1CE-1EEE-D33909ECDF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488" y="422910"/>
            <a:ext cx="8351024" cy="366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433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9DABE7-C5B1-C782-8960-AC1A2E7913F6}"/>
              </a:ext>
            </a:extLst>
          </p:cNvPr>
          <p:cNvSpPr txBox="1"/>
          <p:nvPr/>
        </p:nvSpPr>
        <p:spPr>
          <a:xfrm>
            <a:off x="386080" y="307539"/>
            <a:ext cx="8371840" cy="5355312"/>
          </a:xfrm>
          <a:prstGeom prst="rect">
            <a:avLst/>
          </a:prstGeom>
          <a:noFill/>
        </p:spPr>
        <p:txBody>
          <a:bodyPr wrap="square">
            <a:spAutoFit/>
          </a:bodyPr>
          <a:lstStyle/>
          <a:p>
            <a:r>
              <a:rPr lang="en-US" dirty="0"/>
              <a:t>CREATE TABLE Persons (</a:t>
            </a:r>
          </a:p>
          <a:p>
            <a:r>
              <a:rPr lang="en-US" dirty="0"/>
              <a:t>    ID int NOT NULL,</a:t>
            </a:r>
          </a:p>
          <a:p>
            <a:r>
              <a:rPr lang="en-US" dirty="0"/>
              <a:t>    </a:t>
            </a:r>
            <a:r>
              <a:rPr lang="en-US" dirty="0" err="1"/>
              <a:t>LastName</a:t>
            </a:r>
            <a:r>
              <a:rPr lang="en-US" dirty="0"/>
              <a:t> varchar(255) NOT NULL,</a:t>
            </a:r>
          </a:p>
          <a:p>
            <a:r>
              <a:rPr lang="en-US" dirty="0"/>
              <a:t>    FirstName varchar(255),</a:t>
            </a:r>
          </a:p>
          <a:p>
            <a:r>
              <a:rPr lang="en-US" dirty="0"/>
              <a:t>    Age int,</a:t>
            </a:r>
          </a:p>
          <a:p>
            <a:r>
              <a:rPr lang="en-US" dirty="0"/>
              <a:t>    City varchar(255),</a:t>
            </a:r>
          </a:p>
          <a:p>
            <a:r>
              <a:rPr lang="en-US" dirty="0"/>
              <a:t>    CONSTRAINT </a:t>
            </a:r>
            <a:r>
              <a:rPr lang="en-US" dirty="0" err="1"/>
              <a:t>CHK_Person</a:t>
            </a:r>
            <a:r>
              <a:rPr lang="en-US" dirty="0"/>
              <a:t> CHECK (Age&gt;=18 AND City='Sandnes')</a:t>
            </a:r>
          </a:p>
          <a:p>
            <a:r>
              <a:rPr lang="en-US" dirty="0"/>
              <a:t>);</a:t>
            </a:r>
          </a:p>
          <a:p>
            <a:endParaRPr lang="en-US" dirty="0"/>
          </a:p>
          <a:p>
            <a:r>
              <a:rPr lang="en-US" b="1" dirty="0"/>
              <a:t>OR</a:t>
            </a:r>
          </a:p>
          <a:p>
            <a:endParaRPr lang="en-US" dirty="0"/>
          </a:p>
          <a:p>
            <a:r>
              <a:rPr lang="en-US" dirty="0"/>
              <a:t>ALTER TABLE Persons</a:t>
            </a:r>
          </a:p>
          <a:p>
            <a:r>
              <a:rPr lang="en-US" dirty="0"/>
              <a:t>ADD CHECK (Age&gt;=18);</a:t>
            </a:r>
          </a:p>
          <a:p>
            <a:endParaRPr lang="en-US" dirty="0"/>
          </a:p>
          <a:p>
            <a:r>
              <a:rPr lang="en-US" dirty="0"/>
              <a:t>ALTER TABLE Persons</a:t>
            </a:r>
          </a:p>
          <a:p>
            <a:r>
              <a:rPr lang="en-US" dirty="0"/>
              <a:t>ADD CONSTRAINT </a:t>
            </a:r>
            <a:r>
              <a:rPr lang="en-US" dirty="0" err="1"/>
              <a:t>CHK_PersonAge</a:t>
            </a:r>
            <a:r>
              <a:rPr lang="en-US" dirty="0"/>
              <a:t> CHECK (Age&gt;=18 AND City='Sandnes’);</a:t>
            </a:r>
          </a:p>
          <a:p>
            <a:endParaRPr lang="en-US" dirty="0"/>
          </a:p>
          <a:p>
            <a:r>
              <a:rPr lang="en-IN" dirty="0"/>
              <a:t>ALTER TABLE Persons</a:t>
            </a:r>
          </a:p>
          <a:p>
            <a:r>
              <a:rPr lang="en-IN" dirty="0"/>
              <a:t>DROP CHECK </a:t>
            </a:r>
            <a:r>
              <a:rPr lang="en-IN" dirty="0" err="1"/>
              <a:t>CHK_PersonAge</a:t>
            </a:r>
            <a:r>
              <a:rPr lang="en-IN" dirty="0"/>
              <a:t>;</a:t>
            </a:r>
          </a:p>
        </p:txBody>
      </p:sp>
    </p:spTree>
    <p:extLst>
      <p:ext uri="{BB962C8B-B14F-4D97-AF65-F5344CB8AC3E}">
        <p14:creationId xmlns:p14="http://schemas.microsoft.com/office/powerpoint/2010/main" val="1601586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D17C9A-70CD-E3C2-80E9-83A34C32453B}"/>
              </a:ext>
            </a:extLst>
          </p:cNvPr>
          <p:cNvSpPr txBox="1"/>
          <p:nvPr/>
        </p:nvSpPr>
        <p:spPr>
          <a:xfrm>
            <a:off x="396240" y="343376"/>
            <a:ext cx="8168640" cy="6217087"/>
          </a:xfrm>
          <a:prstGeom prst="rect">
            <a:avLst/>
          </a:prstGeom>
          <a:noFill/>
        </p:spPr>
        <p:txBody>
          <a:bodyPr wrap="square">
            <a:spAutoFit/>
          </a:bodyPr>
          <a:lstStyle/>
          <a:p>
            <a:pPr algn="ctr"/>
            <a:r>
              <a:rPr lang="en-US" sz="2000" dirty="0">
                <a:highlight>
                  <a:srgbClr val="FFFF00"/>
                </a:highlight>
              </a:rPr>
              <a:t>DEFAULT Constraint</a:t>
            </a:r>
          </a:p>
          <a:p>
            <a:r>
              <a:rPr lang="en-US" dirty="0"/>
              <a:t>This constraint is used to set the default value for the particular column where we have not specified any value. It means the column must contain a value, including NULL.</a:t>
            </a:r>
          </a:p>
          <a:p>
            <a:r>
              <a:rPr lang="en-US" dirty="0"/>
              <a:t>For example, the following statement creates a table "Persons" that contains DEFAULT constraint on the "City" column. If we have not specified any value to the City column, it inserts the default value:</a:t>
            </a:r>
          </a:p>
          <a:p>
            <a:endParaRPr lang="en-US" dirty="0"/>
          </a:p>
          <a:p>
            <a:r>
              <a:rPr lang="en-US" dirty="0" err="1"/>
              <a:t>mysql</a:t>
            </a:r>
            <a:r>
              <a:rPr lang="en-US" dirty="0"/>
              <a:t>&gt; CREATE TABLE Persons (  </a:t>
            </a:r>
          </a:p>
          <a:p>
            <a:r>
              <a:rPr lang="en-US" dirty="0"/>
              <a:t>    ID int NOT NULL,  </a:t>
            </a:r>
          </a:p>
          <a:p>
            <a:r>
              <a:rPr lang="en-US" dirty="0"/>
              <a:t>    Name varchar(45) NOT NULL,  </a:t>
            </a:r>
          </a:p>
          <a:p>
            <a:r>
              <a:rPr lang="en-US" dirty="0"/>
              <a:t>    Age int,  </a:t>
            </a:r>
          </a:p>
          <a:p>
            <a:r>
              <a:rPr lang="en-US" dirty="0"/>
              <a:t>    City varchar(25) DEFAULT 'New York'  </a:t>
            </a:r>
          </a:p>
          <a:p>
            <a:r>
              <a:rPr lang="en-US" dirty="0"/>
              <a:t>);  </a:t>
            </a:r>
          </a:p>
          <a:p>
            <a:r>
              <a:rPr lang="en-US" dirty="0"/>
              <a:t>Execute the listed queries to insert the values into the table:</a:t>
            </a:r>
          </a:p>
          <a:p>
            <a:endParaRPr lang="en-US" dirty="0"/>
          </a:p>
          <a:p>
            <a:r>
              <a:rPr lang="en-US" dirty="0" err="1"/>
              <a:t>mysql</a:t>
            </a:r>
            <a:r>
              <a:rPr lang="en-US" dirty="0"/>
              <a:t>&gt; INSERT INTO Persons(Id, Name, Age, City)   </a:t>
            </a:r>
          </a:p>
          <a:p>
            <a:r>
              <a:rPr lang="en-US" dirty="0"/>
              <a:t>VALUES (1,'Robert', 15, 'Florida'),   </a:t>
            </a:r>
          </a:p>
          <a:p>
            <a:r>
              <a:rPr lang="en-US" dirty="0"/>
              <a:t>(2, 'Joseph', 35, 'California'),   </a:t>
            </a:r>
          </a:p>
          <a:p>
            <a:r>
              <a:rPr lang="en-US" dirty="0"/>
              <a:t>(3, 'Peter', 40, 'Alaska');  </a:t>
            </a:r>
          </a:p>
          <a:p>
            <a:r>
              <a:rPr lang="en-US" dirty="0"/>
              <a:t>  </a:t>
            </a:r>
          </a:p>
          <a:p>
            <a:r>
              <a:rPr lang="en-US" dirty="0" err="1"/>
              <a:t>mysql</a:t>
            </a:r>
            <a:r>
              <a:rPr lang="en-US" dirty="0"/>
              <a:t>&gt; INSERT INTO Persons(Id, Name, Age) VALUES (1,'Brayan', 15); </a:t>
            </a:r>
            <a:endParaRPr lang="en-IN" dirty="0"/>
          </a:p>
        </p:txBody>
      </p:sp>
    </p:spTree>
    <p:extLst>
      <p:ext uri="{BB962C8B-B14F-4D97-AF65-F5344CB8AC3E}">
        <p14:creationId xmlns:p14="http://schemas.microsoft.com/office/powerpoint/2010/main" val="1429889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MySQL Constraints">
            <a:extLst>
              <a:ext uri="{FF2B5EF4-FFF2-40B4-BE49-F238E27FC236}">
                <a16:creationId xmlns:a16="http://schemas.microsoft.com/office/drawing/2014/main" id="{69D391C6-44E6-1907-6ABA-91FF5F0FD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135" y="296545"/>
            <a:ext cx="6343650" cy="295275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MySQL Constraints">
            <a:extLst>
              <a:ext uri="{FF2B5EF4-FFF2-40B4-BE49-F238E27FC236}">
                <a16:creationId xmlns:a16="http://schemas.microsoft.com/office/drawing/2014/main" id="{E2DAFDF2-B264-F291-BC66-443CD7787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35" y="3608706"/>
            <a:ext cx="6362118" cy="2131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299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927533-1A10-EF3A-0244-DA8935B7BA75}"/>
              </a:ext>
            </a:extLst>
          </p:cNvPr>
          <p:cNvSpPr txBox="1"/>
          <p:nvPr/>
        </p:nvSpPr>
        <p:spPr>
          <a:xfrm>
            <a:off x="447040" y="358894"/>
            <a:ext cx="8128000" cy="6463308"/>
          </a:xfrm>
          <a:prstGeom prst="rect">
            <a:avLst/>
          </a:prstGeom>
          <a:noFill/>
        </p:spPr>
        <p:txBody>
          <a:bodyPr wrap="square">
            <a:spAutoFit/>
          </a:bodyPr>
          <a:lstStyle/>
          <a:p>
            <a:r>
              <a:rPr lang="en-IN" dirty="0"/>
              <a:t>PRIMARY KEY Constraint</a:t>
            </a:r>
          </a:p>
          <a:p>
            <a:r>
              <a:rPr lang="en-US" dirty="0"/>
              <a:t>This constraint is used to identify each record in a table uniquely. If the column contains primary key constraints, then it cannot be null or empty. A table may have duplicate columns, but it can contain only one primary key. It always contains unique value into a column.</a:t>
            </a:r>
          </a:p>
          <a:p>
            <a:endParaRPr lang="en-US" dirty="0"/>
          </a:p>
          <a:p>
            <a:r>
              <a:rPr lang="en-US" dirty="0"/>
              <a:t>The following statement creates a table "Person" and explains the use of this primary key more clearly:</a:t>
            </a:r>
          </a:p>
          <a:p>
            <a:endParaRPr lang="en-US" dirty="0"/>
          </a:p>
          <a:p>
            <a:r>
              <a:rPr lang="en-US" dirty="0"/>
              <a:t>CREATE TABLE Persons (  </a:t>
            </a:r>
          </a:p>
          <a:p>
            <a:r>
              <a:rPr lang="en-US" dirty="0"/>
              <a:t>    ID int NOT NULL PRIMARY KEY,   </a:t>
            </a:r>
          </a:p>
          <a:p>
            <a:r>
              <a:rPr lang="en-US" dirty="0"/>
              <a:t>    Name varchar(45) NOT NULL,   </a:t>
            </a:r>
          </a:p>
          <a:p>
            <a:r>
              <a:rPr lang="en-US" dirty="0"/>
              <a:t>    Age int,   </a:t>
            </a:r>
          </a:p>
          <a:p>
            <a:r>
              <a:rPr lang="en-US" dirty="0"/>
              <a:t>    City varchar(25));  </a:t>
            </a:r>
          </a:p>
          <a:p>
            <a:r>
              <a:rPr lang="en-US" dirty="0"/>
              <a:t>Next, use the insert query to store data into a table:</a:t>
            </a:r>
          </a:p>
          <a:p>
            <a:endParaRPr lang="en-US" dirty="0"/>
          </a:p>
          <a:p>
            <a:r>
              <a:rPr lang="en-US" dirty="0"/>
              <a:t>INSERT INTO Persons(Id, Name, Age, City)   </a:t>
            </a:r>
          </a:p>
          <a:p>
            <a:r>
              <a:rPr lang="en-US" dirty="0"/>
              <a:t>VALUES (1,'Robert', 15, 'Florida') ,   </a:t>
            </a:r>
          </a:p>
          <a:p>
            <a:r>
              <a:rPr lang="en-US" dirty="0"/>
              <a:t>(2, 'Joseph', 35, 'California'),   </a:t>
            </a:r>
          </a:p>
          <a:p>
            <a:r>
              <a:rPr lang="en-US" dirty="0"/>
              <a:t>(3, 'Peter', 40, 'Alaska');  </a:t>
            </a:r>
          </a:p>
          <a:p>
            <a:r>
              <a:rPr lang="en-US" dirty="0"/>
              <a:t>  </a:t>
            </a:r>
          </a:p>
          <a:p>
            <a:r>
              <a:rPr lang="en-US" dirty="0"/>
              <a:t>INSERT INTO Persons(Id, Name, Age, City)   </a:t>
            </a:r>
          </a:p>
          <a:p>
            <a:r>
              <a:rPr lang="en-US" dirty="0"/>
              <a:t>VALUES (1,'Stephen', 15, 'Florida'); </a:t>
            </a:r>
            <a:endParaRPr lang="en-IN" dirty="0"/>
          </a:p>
        </p:txBody>
      </p:sp>
    </p:spTree>
    <p:extLst>
      <p:ext uri="{BB962C8B-B14F-4D97-AF65-F5344CB8AC3E}">
        <p14:creationId xmlns:p14="http://schemas.microsoft.com/office/powerpoint/2010/main" val="1080212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MySQL Constraints">
            <a:extLst>
              <a:ext uri="{FF2B5EF4-FFF2-40B4-BE49-F238E27FC236}">
                <a16:creationId xmlns:a16="http://schemas.microsoft.com/office/drawing/2014/main" id="{4E68325D-3A97-862D-A4D0-34FF2E7D0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713105"/>
            <a:ext cx="8268445" cy="4011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432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8DD88B-B746-6A3B-AF5B-50A939B0B7CE}"/>
              </a:ext>
            </a:extLst>
          </p:cNvPr>
          <p:cNvSpPr txBox="1"/>
          <p:nvPr/>
        </p:nvSpPr>
        <p:spPr>
          <a:xfrm>
            <a:off x="457200" y="433199"/>
            <a:ext cx="8138160" cy="4832092"/>
          </a:xfrm>
          <a:prstGeom prst="rect">
            <a:avLst/>
          </a:prstGeom>
          <a:noFill/>
        </p:spPr>
        <p:txBody>
          <a:bodyPr wrap="square">
            <a:spAutoFit/>
          </a:bodyPr>
          <a:lstStyle/>
          <a:p>
            <a:pPr algn="ctr"/>
            <a:r>
              <a:rPr lang="en-US" sz="2000" dirty="0">
                <a:highlight>
                  <a:srgbClr val="FFFF00"/>
                </a:highlight>
              </a:rPr>
              <a:t>AUTO_INCREMENT Constraint</a:t>
            </a:r>
          </a:p>
          <a:p>
            <a:r>
              <a:rPr lang="en-US" dirty="0"/>
              <a:t>This constraint automatically generates a unique number whenever we insert a new record into the table. Generally, we use this constraint for the primary key field in a table.</a:t>
            </a:r>
          </a:p>
          <a:p>
            <a:endParaRPr lang="en-US" dirty="0"/>
          </a:p>
          <a:p>
            <a:r>
              <a:rPr lang="en-US" dirty="0" err="1"/>
              <a:t>mysql</a:t>
            </a:r>
            <a:r>
              <a:rPr lang="en-US" dirty="0"/>
              <a:t>&gt; CREATE TABLE Animals(  </a:t>
            </a:r>
          </a:p>
          <a:p>
            <a:r>
              <a:rPr lang="en-US" dirty="0"/>
              <a:t>id int NOT NULL AUTO_INCREMENT,   </a:t>
            </a:r>
          </a:p>
          <a:p>
            <a:r>
              <a:rPr lang="en-US" dirty="0"/>
              <a:t>name CHAR(30) NOT NULL,   </a:t>
            </a:r>
          </a:p>
          <a:p>
            <a:r>
              <a:rPr lang="en-US" dirty="0"/>
              <a:t>PRIMARY KEY (id));  </a:t>
            </a:r>
          </a:p>
          <a:p>
            <a:endParaRPr lang="en-US" dirty="0"/>
          </a:p>
          <a:p>
            <a:r>
              <a:rPr lang="en-US" dirty="0"/>
              <a:t>Next, we need to insert the values into the "Animals" table:</a:t>
            </a:r>
          </a:p>
          <a:p>
            <a:r>
              <a:rPr lang="en-US" dirty="0" err="1"/>
              <a:t>mysql</a:t>
            </a:r>
            <a:r>
              <a:rPr lang="en-US" dirty="0"/>
              <a:t>&gt; INSERT INTO Animals (name) VALUES   </a:t>
            </a:r>
          </a:p>
          <a:p>
            <a:r>
              <a:rPr lang="en-US" dirty="0"/>
              <a:t>('Tiger'),('Dog'),('Penguin'),   </a:t>
            </a:r>
          </a:p>
          <a:p>
            <a:r>
              <a:rPr lang="en-US" dirty="0"/>
              <a:t>('Camel'),('Cat'),('Ostrich’); </a:t>
            </a:r>
          </a:p>
          <a:p>
            <a:r>
              <a:rPr lang="en-US" dirty="0"/>
              <a:t> </a:t>
            </a:r>
          </a:p>
          <a:p>
            <a:r>
              <a:rPr lang="en-US" dirty="0"/>
              <a:t>Now, execute the below statement to get the table data:</a:t>
            </a:r>
          </a:p>
          <a:p>
            <a:r>
              <a:rPr lang="en-US" dirty="0" err="1"/>
              <a:t>mysql</a:t>
            </a:r>
            <a:r>
              <a:rPr lang="en-US" dirty="0"/>
              <a:t>&gt; SELECT * FROM Animals; </a:t>
            </a:r>
          </a:p>
        </p:txBody>
      </p:sp>
    </p:spTree>
    <p:extLst>
      <p:ext uri="{BB962C8B-B14F-4D97-AF65-F5344CB8AC3E}">
        <p14:creationId xmlns:p14="http://schemas.microsoft.com/office/powerpoint/2010/main" val="2961517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MySQL Constraints">
            <a:extLst>
              <a:ext uri="{FF2B5EF4-FFF2-40B4-BE49-F238E27FC236}">
                <a16:creationId xmlns:a16="http://schemas.microsoft.com/office/drawing/2014/main" id="{03408DB0-2071-A431-E683-EA6ACF995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496" y="590701"/>
            <a:ext cx="7807007" cy="5676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92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53039A-2854-FFBA-639A-30BA371C7BF2}"/>
              </a:ext>
            </a:extLst>
          </p:cNvPr>
          <p:cNvSpPr txBox="1"/>
          <p:nvPr/>
        </p:nvSpPr>
        <p:spPr>
          <a:xfrm>
            <a:off x="497840" y="401102"/>
            <a:ext cx="8229600" cy="6217087"/>
          </a:xfrm>
          <a:prstGeom prst="rect">
            <a:avLst/>
          </a:prstGeom>
          <a:noFill/>
        </p:spPr>
        <p:txBody>
          <a:bodyPr wrap="square">
            <a:spAutoFit/>
          </a:bodyPr>
          <a:lstStyle/>
          <a:p>
            <a:pPr algn="ctr"/>
            <a:r>
              <a:rPr lang="en-US" sz="2000" dirty="0">
                <a:highlight>
                  <a:srgbClr val="FFFF00"/>
                </a:highlight>
              </a:rPr>
              <a:t>ENUM Constraint</a:t>
            </a:r>
          </a:p>
          <a:p>
            <a:r>
              <a:rPr lang="en-US" dirty="0"/>
              <a:t>The ENUM data type in MySQL is a string object. It allows us to limit the value chosen from a list of permitted values in the column specification at the time of table creation. It is short for enumeration, which means that each column may have one of the specified possible values. It uses numeric indexes (1, 2, 3…) to represent string values.</a:t>
            </a:r>
          </a:p>
          <a:p>
            <a:r>
              <a:rPr lang="en-US" dirty="0"/>
              <a:t>The following illustration creates a table named "shirts" that contains three columns: id, name, and size. The column name "size" uses the ENUM data type that contains small, medium, large, and x-large sizes.</a:t>
            </a:r>
          </a:p>
          <a:p>
            <a:r>
              <a:rPr lang="en-US" dirty="0" err="1"/>
              <a:t>mysql</a:t>
            </a:r>
            <a:r>
              <a:rPr lang="en-US" dirty="0"/>
              <a:t>&gt; CREATE TABLE Shirts (    </a:t>
            </a:r>
          </a:p>
          <a:p>
            <a:r>
              <a:rPr lang="en-US" dirty="0"/>
              <a:t>    id INT PRIMARY KEY AUTO_INCREMENT,     </a:t>
            </a:r>
          </a:p>
          <a:p>
            <a:r>
              <a:rPr lang="en-US" dirty="0"/>
              <a:t>    name VARCHAR(35),     </a:t>
            </a:r>
          </a:p>
          <a:p>
            <a:r>
              <a:rPr lang="en-US" dirty="0"/>
              <a:t>    size ENUM('small', 'medium', 'large', 'x-large')    </a:t>
            </a:r>
          </a:p>
          <a:p>
            <a:r>
              <a:rPr lang="en-US" dirty="0"/>
              <a:t>);  </a:t>
            </a:r>
          </a:p>
          <a:p>
            <a:endParaRPr lang="en-US" dirty="0"/>
          </a:p>
          <a:p>
            <a:r>
              <a:rPr lang="en-US" dirty="0" err="1"/>
              <a:t>mysql</a:t>
            </a:r>
            <a:r>
              <a:rPr lang="en-US" dirty="0"/>
              <a:t>&gt; INSERT INTO Shirts(id, name, size)     </a:t>
            </a:r>
          </a:p>
          <a:p>
            <a:r>
              <a:rPr lang="en-US" dirty="0"/>
              <a:t>VALUES (1,'t-shirt', 'medium'),     </a:t>
            </a:r>
          </a:p>
          <a:p>
            <a:r>
              <a:rPr lang="en-US" dirty="0"/>
              <a:t>(2, 'casual-shirt', 'small'),     </a:t>
            </a:r>
          </a:p>
          <a:p>
            <a:r>
              <a:rPr lang="en-US" dirty="0"/>
              <a:t>(3, 'formal-shirt', 'large’); </a:t>
            </a:r>
          </a:p>
          <a:p>
            <a:r>
              <a:rPr lang="en-US" dirty="0"/>
              <a:t> </a:t>
            </a:r>
          </a:p>
          <a:p>
            <a:r>
              <a:rPr lang="en-US" dirty="0"/>
              <a:t>Now, execute the SELECT statement to see the inserted values into the table:</a:t>
            </a:r>
          </a:p>
          <a:p>
            <a:r>
              <a:rPr lang="en-US" dirty="0" err="1"/>
              <a:t>mysql</a:t>
            </a:r>
            <a:r>
              <a:rPr lang="en-US" dirty="0"/>
              <a:t>&gt; SELECT * FROM Shirts; </a:t>
            </a:r>
            <a:endParaRPr lang="en-IN" dirty="0"/>
          </a:p>
        </p:txBody>
      </p:sp>
    </p:spTree>
    <p:extLst>
      <p:ext uri="{BB962C8B-B14F-4D97-AF65-F5344CB8AC3E}">
        <p14:creationId xmlns:p14="http://schemas.microsoft.com/office/powerpoint/2010/main" val="1268437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ySQL Constraints">
            <a:extLst>
              <a:ext uri="{FF2B5EF4-FFF2-40B4-BE49-F238E27FC236}">
                <a16:creationId xmlns:a16="http://schemas.microsoft.com/office/drawing/2014/main" id="{DDDF0BAF-EE13-B17C-B059-5070A8087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98" y="798512"/>
            <a:ext cx="8280204" cy="526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213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AD4F95-2B50-3651-C72D-D163CC556C53}"/>
              </a:ext>
            </a:extLst>
          </p:cNvPr>
          <p:cNvSpPr txBox="1"/>
          <p:nvPr/>
        </p:nvSpPr>
        <p:spPr>
          <a:xfrm>
            <a:off x="518160" y="453519"/>
            <a:ext cx="8067040" cy="6217087"/>
          </a:xfrm>
          <a:prstGeom prst="rect">
            <a:avLst/>
          </a:prstGeom>
          <a:noFill/>
        </p:spPr>
        <p:txBody>
          <a:bodyPr wrap="square">
            <a:spAutoFit/>
          </a:bodyPr>
          <a:lstStyle/>
          <a:p>
            <a:pPr algn="ctr"/>
            <a:r>
              <a:rPr lang="en-US" sz="2000" dirty="0">
                <a:highlight>
                  <a:srgbClr val="FFFF00"/>
                </a:highlight>
              </a:rPr>
              <a:t>INDEX Constraint</a:t>
            </a:r>
          </a:p>
          <a:p>
            <a:r>
              <a:rPr lang="en-US" dirty="0"/>
              <a:t>An index is a database object that improves the speed of data retrieval operations on a table. </a:t>
            </a:r>
          </a:p>
          <a:p>
            <a:r>
              <a:rPr lang="en-US" dirty="0"/>
              <a:t>While indexes are not constraints in a strict sense, they are often associated with constraints like PRIMARY KEY, UNIQUE, and others because these constraints automatically create indexes behind the scenes.</a:t>
            </a:r>
          </a:p>
          <a:p>
            <a:r>
              <a:rPr lang="en-US" dirty="0"/>
              <a:t>Indexes are used to enhance query performance by reducing the time taken to locate rows in a table.</a:t>
            </a:r>
          </a:p>
          <a:p>
            <a:endParaRPr lang="en-US" dirty="0"/>
          </a:p>
          <a:p>
            <a:r>
              <a:rPr lang="en-US" dirty="0"/>
              <a:t>Purpose: To speedup query filtering</a:t>
            </a:r>
          </a:p>
          <a:p>
            <a:endParaRPr lang="en-US" dirty="0"/>
          </a:p>
          <a:p>
            <a:r>
              <a:rPr lang="en-US" dirty="0"/>
              <a:t>Syntax:</a:t>
            </a:r>
          </a:p>
          <a:p>
            <a:r>
              <a:rPr lang="en-US" dirty="0"/>
              <a:t>CREATE INDEX </a:t>
            </a:r>
            <a:r>
              <a:rPr lang="en-US" dirty="0" err="1"/>
              <a:t>index_name</a:t>
            </a:r>
            <a:r>
              <a:rPr lang="en-US" dirty="0"/>
              <a:t> ON </a:t>
            </a:r>
            <a:r>
              <a:rPr lang="en-US" dirty="0" err="1"/>
              <a:t>table_name</a:t>
            </a:r>
            <a:r>
              <a:rPr lang="en-US" dirty="0"/>
              <a:t> (column1, column2);</a:t>
            </a:r>
          </a:p>
          <a:p>
            <a:r>
              <a:rPr lang="en-US" dirty="0"/>
              <a:t>DROP INDEX </a:t>
            </a:r>
            <a:r>
              <a:rPr lang="en-US" dirty="0" err="1"/>
              <a:t>index_name</a:t>
            </a:r>
            <a:r>
              <a:rPr lang="en-US" dirty="0"/>
              <a:t> ON </a:t>
            </a:r>
            <a:r>
              <a:rPr lang="en-US" dirty="0" err="1"/>
              <a:t>table_name</a:t>
            </a:r>
            <a:r>
              <a:rPr lang="en-US" dirty="0"/>
              <a:t>;</a:t>
            </a:r>
          </a:p>
          <a:p>
            <a:endParaRPr lang="en-US" dirty="0"/>
          </a:p>
          <a:p>
            <a:r>
              <a:rPr lang="en-US" dirty="0"/>
              <a:t>Example:</a:t>
            </a:r>
          </a:p>
          <a:p>
            <a:r>
              <a:rPr lang="en-US" dirty="0"/>
              <a:t>CREATE INDEX </a:t>
            </a:r>
            <a:r>
              <a:rPr lang="en-US" dirty="0" err="1"/>
              <a:t>idx_name</a:t>
            </a:r>
            <a:r>
              <a:rPr lang="en-US" dirty="0"/>
              <a:t> ON Employees (Name);</a:t>
            </a:r>
          </a:p>
          <a:p>
            <a:r>
              <a:rPr lang="en-US" dirty="0"/>
              <a:t>CREATE INDEX </a:t>
            </a:r>
            <a:r>
              <a:rPr lang="en-US" dirty="0" err="1"/>
              <a:t>idx_department_salary</a:t>
            </a:r>
            <a:r>
              <a:rPr lang="en-US" dirty="0"/>
              <a:t> ON Employees (Department, Salary);</a:t>
            </a:r>
          </a:p>
          <a:p>
            <a:r>
              <a:rPr lang="en-US" dirty="0"/>
              <a:t>CREATE UNIQUE INDEX </a:t>
            </a:r>
            <a:r>
              <a:rPr lang="en-US" dirty="0" err="1"/>
              <a:t>idx_email</a:t>
            </a:r>
            <a:r>
              <a:rPr lang="en-US" dirty="0"/>
              <a:t> ON Employees (Email);</a:t>
            </a:r>
          </a:p>
          <a:p>
            <a:endParaRPr lang="en-US" dirty="0"/>
          </a:p>
          <a:p>
            <a:r>
              <a:rPr lang="en-US" dirty="0"/>
              <a:t>Disadvantage: Slows down INSERT, UPDATE, and DELETE operations because the index needs to be updated. Consumes additional disk space.</a:t>
            </a:r>
            <a:endParaRPr lang="en-IN" dirty="0"/>
          </a:p>
        </p:txBody>
      </p:sp>
    </p:spTree>
    <p:extLst>
      <p:ext uri="{BB962C8B-B14F-4D97-AF65-F5344CB8AC3E}">
        <p14:creationId xmlns:p14="http://schemas.microsoft.com/office/powerpoint/2010/main" val="3160750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4EAFD4-0F77-BD9E-91C1-B6EAE6DDD25F}"/>
              </a:ext>
            </a:extLst>
          </p:cNvPr>
          <p:cNvSpPr txBox="1"/>
          <p:nvPr/>
        </p:nvSpPr>
        <p:spPr>
          <a:xfrm>
            <a:off x="436880" y="342821"/>
            <a:ext cx="8229600" cy="6217087"/>
          </a:xfrm>
          <a:prstGeom prst="rect">
            <a:avLst/>
          </a:prstGeom>
          <a:noFill/>
        </p:spPr>
        <p:txBody>
          <a:bodyPr wrap="square">
            <a:spAutoFit/>
          </a:bodyPr>
          <a:lstStyle/>
          <a:p>
            <a:pPr algn="ctr"/>
            <a:r>
              <a:rPr lang="en-US" sz="2000" dirty="0">
                <a:highlight>
                  <a:srgbClr val="FFFF00"/>
                </a:highlight>
              </a:rPr>
              <a:t>Foreign Key Constraint</a:t>
            </a:r>
          </a:p>
          <a:p>
            <a:r>
              <a:rPr lang="en-US" dirty="0"/>
              <a:t>This constraint is used to link two tables together. It is also known as the referencing key. A foreign key column matches the primary key field of another table. It means a foreign key field in one table refers to the primary key field of another table.</a:t>
            </a:r>
          </a:p>
          <a:p>
            <a:endParaRPr lang="en-US" dirty="0"/>
          </a:p>
          <a:p>
            <a:r>
              <a:rPr lang="en-US" dirty="0"/>
              <a:t>Let us consider the structure of these tables: Persons and Orders.</a:t>
            </a:r>
          </a:p>
          <a:p>
            <a:endParaRPr lang="en-US" dirty="0"/>
          </a:p>
          <a:p>
            <a:r>
              <a:rPr lang="en-US" dirty="0"/>
              <a:t>Table: Persons</a:t>
            </a:r>
          </a:p>
          <a:p>
            <a:r>
              <a:rPr lang="en-US" dirty="0"/>
              <a:t>CREATE TABLE Persons (  </a:t>
            </a:r>
          </a:p>
          <a:p>
            <a:r>
              <a:rPr lang="en-US" dirty="0"/>
              <a:t>    </a:t>
            </a:r>
            <a:r>
              <a:rPr lang="en-US" dirty="0" err="1"/>
              <a:t>Person_ID</a:t>
            </a:r>
            <a:r>
              <a:rPr lang="en-US" dirty="0"/>
              <a:t> int NOT NULL PRIMARY KEY,   </a:t>
            </a:r>
          </a:p>
          <a:p>
            <a:r>
              <a:rPr lang="en-US" dirty="0"/>
              <a:t>    Name varchar(45) NOT NULL,   </a:t>
            </a:r>
          </a:p>
          <a:p>
            <a:r>
              <a:rPr lang="en-US" dirty="0"/>
              <a:t>    Age int,   </a:t>
            </a:r>
          </a:p>
          <a:p>
            <a:r>
              <a:rPr lang="en-US" dirty="0"/>
              <a:t>    City varchar(25)  </a:t>
            </a:r>
          </a:p>
          <a:p>
            <a:r>
              <a:rPr lang="en-US" dirty="0"/>
              <a:t>);  </a:t>
            </a:r>
          </a:p>
          <a:p>
            <a:endParaRPr lang="en-US" dirty="0"/>
          </a:p>
          <a:p>
            <a:r>
              <a:rPr lang="en-US" dirty="0"/>
              <a:t>Table: Orders</a:t>
            </a:r>
          </a:p>
          <a:p>
            <a:r>
              <a:rPr lang="en-US" dirty="0"/>
              <a:t>CREATE TABLE Orders (  </a:t>
            </a:r>
          </a:p>
          <a:p>
            <a:r>
              <a:rPr lang="en-US" dirty="0"/>
              <a:t>    </a:t>
            </a:r>
            <a:r>
              <a:rPr lang="en-US" dirty="0" err="1"/>
              <a:t>Order_ID</a:t>
            </a:r>
            <a:r>
              <a:rPr lang="en-US" dirty="0"/>
              <a:t> int NOT NULL PRIMARY KEY,  </a:t>
            </a:r>
          </a:p>
          <a:p>
            <a:r>
              <a:rPr lang="en-US" dirty="0"/>
              <a:t>    </a:t>
            </a:r>
            <a:r>
              <a:rPr lang="en-US" dirty="0" err="1"/>
              <a:t>Order_Num</a:t>
            </a:r>
            <a:r>
              <a:rPr lang="en-US" dirty="0"/>
              <a:t> int NOT NULL,  </a:t>
            </a:r>
          </a:p>
          <a:p>
            <a:r>
              <a:rPr lang="en-US" dirty="0"/>
              <a:t>    </a:t>
            </a:r>
            <a:r>
              <a:rPr lang="en-US" dirty="0" err="1"/>
              <a:t>Person_ID</a:t>
            </a:r>
            <a:r>
              <a:rPr lang="en-US" dirty="0"/>
              <a:t> int,  </a:t>
            </a:r>
          </a:p>
          <a:p>
            <a:r>
              <a:rPr lang="en-US" dirty="0"/>
              <a:t>    FOREIGN KEY (</a:t>
            </a:r>
            <a:r>
              <a:rPr lang="en-US" dirty="0" err="1"/>
              <a:t>Person_ID</a:t>
            </a:r>
            <a:r>
              <a:rPr lang="en-US" dirty="0"/>
              <a:t>) REFERENCES Persons(</a:t>
            </a:r>
            <a:r>
              <a:rPr lang="en-US" dirty="0" err="1"/>
              <a:t>Person_ID</a:t>
            </a:r>
            <a:r>
              <a:rPr lang="en-US" dirty="0"/>
              <a:t>)  </a:t>
            </a:r>
          </a:p>
          <a:p>
            <a:r>
              <a:rPr lang="en-US" dirty="0"/>
              <a:t>); </a:t>
            </a:r>
          </a:p>
        </p:txBody>
      </p:sp>
    </p:spTree>
    <p:extLst>
      <p:ext uri="{BB962C8B-B14F-4D97-AF65-F5344CB8AC3E}">
        <p14:creationId xmlns:p14="http://schemas.microsoft.com/office/powerpoint/2010/main" val="36151861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ySQL Constraints">
            <a:extLst>
              <a:ext uri="{FF2B5EF4-FFF2-40B4-BE49-F238E27FC236}">
                <a16:creationId xmlns:a16="http://schemas.microsoft.com/office/drawing/2014/main" id="{8E3AAFE2-A769-97FE-20AD-DAEDD77646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803" y="1153954"/>
            <a:ext cx="7838394" cy="4550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190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E65364-651F-6224-7EC6-ED7885596151}"/>
              </a:ext>
            </a:extLst>
          </p:cNvPr>
          <p:cNvSpPr txBox="1"/>
          <p:nvPr/>
        </p:nvSpPr>
        <p:spPr>
          <a:xfrm>
            <a:off x="609600" y="338574"/>
            <a:ext cx="7955280" cy="1292662"/>
          </a:xfrm>
          <a:prstGeom prst="rect">
            <a:avLst/>
          </a:prstGeom>
          <a:noFill/>
        </p:spPr>
        <p:txBody>
          <a:bodyPr wrap="square">
            <a:spAutoFit/>
          </a:bodyPr>
          <a:lstStyle/>
          <a:p>
            <a:pPr algn="ctr"/>
            <a:r>
              <a:rPr lang="en-IN" sz="2400" b="1" dirty="0">
                <a:solidFill>
                  <a:srgbClr val="FF0000"/>
                </a:solidFill>
                <a:highlight>
                  <a:srgbClr val="FFFF00"/>
                </a:highlight>
              </a:rPr>
              <a:t>Aggregate Functions</a:t>
            </a:r>
          </a:p>
          <a:p>
            <a:r>
              <a:rPr lang="en-US" dirty="0"/>
              <a:t>Used to perform calculations on multiple values and return the result in a single value like the average of all values, the sum of all values, and maximum &amp; minimum value among certain groups of values.</a:t>
            </a:r>
            <a:endParaRPr lang="en-IN" dirty="0"/>
          </a:p>
        </p:txBody>
      </p:sp>
      <p:graphicFrame>
        <p:nvGraphicFramePr>
          <p:cNvPr id="7" name="Table 6">
            <a:extLst>
              <a:ext uri="{FF2B5EF4-FFF2-40B4-BE49-F238E27FC236}">
                <a16:creationId xmlns:a16="http://schemas.microsoft.com/office/drawing/2014/main" id="{8ED50D58-20EC-CE7E-2837-C332770E72A6}"/>
              </a:ext>
            </a:extLst>
          </p:cNvPr>
          <p:cNvGraphicFramePr>
            <a:graphicFrameLocks noGrp="1"/>
          </p:cNvGraphicFramePr>
          <p:nvPr>
            <p:extLst>
              <p:ext uri="{D42A27DB-BD31-4B8C-83A1-F6EECF244321}">
                <p14:modId xmlns:p14="http://schemas.microsoft.com/office/powerpoint/2010/main" val="3052341422"/>
              </p:ext>
            </p:extLst>
          </p:nvPr>
        </p:nvGraphicFramePr>
        <p:xfrm>
          <a:off x="609600" y="1809768"/>
          <a:ext cx="8167226" cy="4525637"/>
        </p:xfrm>
        <a:graphic>
          <a:graphicData uri="http://schemas.openxmlformats.org/drawingml/2006/table">
            <a:tbl>
              <a:tblPr/>
              <a:tblGrid>
                <a:gridCol w="2286000">
                  <a:extLst>
                    <a:ext uri="{9D8B030D-6E8A-4147-A177-3AD203B41FA5}">
                      <a16:colId xmlns:a16="http://schemas.microsoft.com/office/drawing/2014/main" val="1587473464"/>
                    </a:ext>
                  </a:extLst>
                </a:gridCol>
                <a:gridCol w="5881226">
                  <a:extLst>
                    <a:ext uri="{9D8B030D-6E8A-4147-A177-3AD203B41FA5}">
                      <a16:colId xmlns:a16="http://schemas.microsoft.com/office/drawing/2014/main" val="2689624122"/>
                    </a:ext>
                  </a:extLst>
                </a:gridCol>
              </a:tblGrid>
              <a:tr h="320625">
                <a:tc>
                  <a:txBody>
                    <a:bodyPr/>
                    <a:lstStyle/>
                    <a:p>
                      <a:pPr algn="ctr" fontAlgn="t"/>
                      <a:r>
                        <a:rPr lang="en-IN" sz="1800" b="1" dirty="0">
                          <a:solidFill>
                            <a:schemeClr val="tx1"/>
                          </a:solidFill>
                          <a:effectLst/>
                        </a:rPr>
                        <a:t>Aggregate Function</a:t>
                      </a:r>
                    </a:p>
                  </a:txBody>
                  <a:tcPr marL="76200" marR="76200" marT="76200" marB="76200">
                    <a:lnL w="12700" cap="flat" cmpd="sng" algn="ctr">
                      <a:solidFill>
                        <a:srgbClr val="706D7C"/>
                      </a:solidFill>
                      <a:prstDash val="solid"/>
                      <a:round/>
                      <a:headEnd type="none" w="med" len="med"/>
                      <a:tailEnd type="none" w="med" len="med"/>
                    </a:lnL>
                    <a:lnR w="12700" cap="flat" cmpd="sng" algn="ctr">
                      <a:solidFill>
                        <a:srgbClr val="70697C"/>
                      </a:solidFill>
                      <a:prstDash val="solid"/>
                      <a:round/>
                      <a:headEnd type="none" w="med" len="med"/>
                      <a:tailEnd type="none" w="med" len="med"/>
                    </a:lnR>
                    <a:lnT w="12700" cap="flat" cmpd="sng" algn="ctr">
                      <a:solidFill>
                        <a:srgbClr val="706D7C"/>
                      </a:solidFill>
                      <a:prstDash val="solid"/>
                      <a:round/>
                      <a:headEnd type="none" w="med" len="med"/>
                      <a:tailEnd type="none" w="med" len="med"/>
                    </a:lnT>
                    <a:lnB w="12700" cap="flat" cmpd="sng" algn="ctr">
                      <a:solidFill>
                        <a:srgbClr val="306D7C"/>
                      </a:solidFill>
                      <a:prstDash val="solid"/>
                      <a:round/>
                      <a:headEnd type="none" w="med" len="med"/>
                      <a:tailEnd type="none" w="med" len="med"/>
                    </a:lnB>
                    <a:solidFill>
                      <a:srgbClr val="FFFFFF"/>
                    </a:solidFill>
                  </a:tcPr>
                </a:tc>
                <a:tc>
                  <a:txBody>
                    <a:bodyPr/>
                    <a:lstStyle/>
                    <a:p>
                      <a:pPr algn="ctr" fontAlgn="t"/>
                      <a:r>
                        <a:rPr lang="en-IN" sz="1800" b="1" dirty="0">
                          <a:solidFill>
                            <a:schemeClr val="tx1"/>
                          </a:solidFill>
                          <a:effectLst/>
                        </a:rPr>
                        <a:t>Descriptions</a:t>
                      </a:r>
                    </a:p>
                  </a:txBody>
                  <a:tcPr marL="76200" marR="76200" marT="76200" marB="76200">
                    <a:lnL w="12700" cap="flat" cmpd="sng" algn="ctr">
                      <a:solidFill>
                        <a:srgbClr val="70697C"/>
                      </a:solidFill>
                      <a:prstDash val="solid"/>
                      <a:round/>
                      <a:headEnd type="none" w="med" len="med"/>
                      <a:tailEnd type="none" w="med" len="med"/>
                    </a:lnL>
                    <a:lnR w="12700" cap="flat" cmpd="sng" algn="ctr">
                      <a:solidFill>
                        <a:srgbClr val="70697C"/>
                      </a:solidFill>
                      <a:prstDash val="solid"/>
                      <a:round/>
                      <a:headEnd type="none" w="med" len="med"/>
                      <a:tailEnd type="none" w="med" len="med"/>
                    </a:lnR>
                    <a:lnT w="12700" cap="flat" cmpd="sng" algn="ctr">
                      <a:solidFill>
                        <a:srgbClr val="70697C"/>
                      </a:solidFill>
                      <a:prstDash val="solid"/>
                      <a:round/>
                      <a:headEnd type="none" w="med" len="med"/>
                      <a:tailEnd type="none" w="med" len="med"/>
                    </a:lnT>
                    <a:lnB w="12700" cap="flat" cmpd="sng" algn="ctr">
                      <a:solidFill>
                        <a:srgbClr val="306D7C"/>
                      </a:solidFill>
                      <a:prstDash val="solid"/>
                      <a:round/>
                      <a:headEnd type="none" w="med" len="med"/>
                      <a:tailEnd type="none" w="med" len="med"/>
                    </a:lnB>
                    <a:solidFill>
                      <a:srgbClr val="FFFFFF"/>
                    </a:solidFill>
                  </a:tcPr>
                </a:tc>
                <a:extLst>
                  <a:ext uri="{0D108BD9-81ED-4DB2-BD59-A6C34878D82A}">
                    <a16:rowId xmlns:a16="http://schemas.microsoft.com/office/drawing/2014/main" val="1074423821"/>
                  </a:ext>
                </a:extLst>
              </a:tr>
              <a:tr h="709955">
                <a:tc>
                  <a:txBody>
                    <a:bodyPr/>
                    <a:lstStyle/>
                    <a:p>
                      <a:r>
                        <a:rPr lang="en-IN" sz="1800" dirty="0"/>
                        <a:t>count()</a:t>
                      </a:r>
                    </a:p>
                  </a:txBody>
                  <a:tcPr marL="45804" marR="45804" marT="45804" marB="45804" anchor="ctr">
                    <a:lnL w="12700" cap="flat" cmpd="sng" algn="ctr">
                      <a:solidFill>
                        <a:srgbClr val="306D7C"/>
                      </a:solidFill>
                      <a:prstDash val="solid"/>
                      <a:round/>
                      <a:headEnd type="none" w="med" len="med"/>
                      <a:tailEnd type="none" w="med" len="med"/>
                    </a:lnL>
                    <a:lnR w="12700" cap="flat" cmpd="sng" algn="ctr">
                      <a:solidFill>
                        <a:srgbClr val="306D7C"/>
                      </a:solidFill>
                      <a:prstDash val="solid"/>
                      <a:round/>
                      <a:headEnd type="none" w="med" len="med"/>
                      <a:tailEnd type="none" w="med" len="med"/>
                    </a:lnR>
                    <a:lnT w="12700" cap="flat" cmpd="sng" algn="ctr">
                      <a:solidFill>
                        <a:srgbClr val="306D7C"/>
                      </a:solidFill>
                      <a:prstDash val="solid"/>
                      <a:round/>
                      <a:headEnd type="none" w="med" len="med"/>
                      <a:tailEnd type="none" w="med" len="med"/>
                    </a:lnT>
                    <a:lnB w="12700" cap="flat" cmpd="sng" algn="ctr">
                      <a:solidFill>
                        <a:srgbClr val="306D7C"/>
                      </a:solidFill>
                      <a:prstDash val="solid"/>
                      <a:round/>
                      <a:headEnd type="none" w="med" len="med"/>
                      <a:tailEnd type="none" w="med" len="med"/>
                    </a:lnB>
                    <a:solidFill>
                      <a:srgbClr val="FFFFFF"/>
                    </a:solidFill>
                  </a:tcPr>
                </a:tc>
                <a:tc>
                  <a:txBody>
                    <a:bodyPr/>
                    <a:lstStyle/>
                    <a:p>
                      <a:r>
                        <a:rPr lang="en-US" sz="1800">
                          <a:effectLst/>
                        </a:rPr>
                        <a:t>It returns the number of rows, including rows with NULL values in a group.</a:t>
                      </a:r>
                    </a:p>
                  </a:txBody>
                  <a:tcPr marL="45804" marR="45804" marT="45804" marB="45804" anchor="ctr">
                    <a:lnL w="12700" cap="flat" cmpd="sng" algn="ctr">
                      <a:solidFill>
                        <a:srgbClr val="306D7C"/>
                      </a:solidFill>
                      <a:prstDash val="solid"/>
                      <a:round/>
                      <a:headEnd type="none" w="med" len="med"/>
                      <a:tailEnd type="none" w="med" len="med"/>
                    </a:lnL>
                    <a:lnR w="12700" cap="flat" cmpd="sng" algn="ctr">
                      <a:solidFill>
                        <a:srgbClr val="306D7C"/>
                      </a:solidFill>
                      <a:prstDash val="solid"/>
                      <a:round/>
                      <a:headEnd type="none" w="med" len="med"/>
                      <a:tailEnd type="none" w="med" len="med"/>
                    </a:lnR>
                    <a:lnT w="12700" cap="flat" cmpd="sng" algn="ctr">
                      <a:solidFill>
                        <a:srgbClr val="306D7C"/>
                      </a:solidFill>
                      <a:prstDash val="solid"/>
                      <a:round/>
                      <a:headEnd type="none" w="med" len="med"/>
                      <a:tailEnd type="none" w="med" len="med"/>
                    </a:lnT>
                    <a:lnB w="12700" cap="flat" cmpd="sng" algn="ctr">
                      <a:solidFill>
                        <a:srgbClr val="306D7C"/>
                      </a:solidFill>
                      <a:prstDash val="solid"/>
                      <a:round/>
                      <a:headEnd type="none" w="med" len="med"/>
                      <a:tailEnd type="none" w="med" len="med"/>
                    </a:lnB>
                    <a:solidFill>
                      <a:srgbClr val="FFFFFF"/>
                    </a:solidFill>
                  </a:tcPr>
                </a:tc>
                <a:extLst>
                  <a:ext uri="{0D108BD9-81ED-4DB2-BD59-A6C34878D82A}">
                    <a16:rowId xmlns:a16="http://schemas.microsoft.com/office/drawing/2014/main" val="2129320584"/>
                  </a:ext>
                </a:extLst>
              </a:tr>
              <a:tr h="503839">
                <a:tc>
                  <a:txBody>
                    <a:bodyPr/>
                    <a:lstStyle/>
                    <a:p>
                      <a:r>
                        <a:rPr lang="en-IN" sz="1800" dirty="0"/>
                        <a:t>sum()</a:t>
                      </a:r>
                    </a:p>
                  </a:txBody>
                  <a:tcPr marL="45804" marR="45804" marT="45804" marB="45804" anchor="ctr">
                    <a:lnL w="12700" cap="flat" cmpd="sng" algn="ctr">
                      <a:solidFill>
                        <a:srgbClr val="306D7C"/>
                      </a:solidFill>
                      <a:prstDash val="solid"/>
                      <a:round/>
                      <a:headEnd type="none" w="med" len="med"/>
                      <a:tailEnd type="none" w="med" len="med"/>
                    </a:lnL>
                    <a:lnR w="12700" cap="flat" cmpd="sng" algn="ctr">
                      <a:solidFill>
                        <a:srgbClr val="306D7C"/>
                      </a:solidFill>
                      <a:prstDash val="solid"/>
                      <a:round/>
                      <a:headEnd type="none" w="med" len="med"/>
                      <a:tailEnd type="none" w="med" len="med"/>
                    </a:lnR>
                    <a:lnT w="12700" cap="flat" cmpd="sng" algn="ctr">
                      <a:solidFill>
                        <a:srgbClr val="306D7C"/>
                      </a:solidFill>
                      <a:prstDash val="solid"/>
                      <a:round/>
                      <a:headEnd type="none" w="med" len="med"/>
                      <a:tailEnd type="none" w="med" len="med"/>
                    </a:lnT>
                    <a:lnB w="12700" cap="flat" cmpd="sng" algn="ctr">
                      <a:solidFill>
                        <a:srgbClr val="D0697C"/>
                      </a:solidFill>
                      <a:prstDash val="solid"/>
                      <a:round/>
                      <a:headEnd type="none" w="med" len="med"/>
                      <a:tailEnd type="none" w="med" len="med"/>
                    </a:lnB>
                    <a:solidFill>
                      <a:srgbClr val="FFFFFF"/>
                    </a:solidFill>
                  </a:tcPr>
                </a:tc>
                <a:tc>
                  <a:txBody>
                    <a:bodyPr/>
                    <a:lstStyle/>
                    <a:p>
                      <a:r>
                        <a:rPr lang="en-US" sz="1800">
                          <a:effectLst/>
                        </a:rPr>
                        <a:t>It returns the total summed values (Non-NULL) in a set.</a:t>
                      </a:r>
                    </a:p>
                  </a:txBody>
                  <a:tcPr marL="45804" marR="45804" marT="45804" marB="45804" anchor="ctr">
                    <a:lnL w="12700" cap="flat" cmpd="sng" algn="ctr">
                      <a:solidFill>
                        <a:srgbClr val="306D7C"/>
                      </a:solidFill>
                      <a:prstDash val="solid"/>
                      <a:round/>
                      <a:headEnd type="none" w="med" len="med"/>
                      <a:tailEnd type="none" w="med" len="med"/>
                    </a:lnL>
                    <a:lnR w="12700" cap="flat" cmpd="sng" algn="ctr">
                      <a:solidFill>
                        <a:srgbClr val="306D7C"/>
                      </a:solidFill>
                      <a:prstDash val="solid"/>
                      <a:round/>
                      <a:headEnd type="none" w="med" len="med"/>
                      <a:tailEnd type="none" w="med" len="med"/>
                    </a:lnR>
                    <a:lnT w="12700" cap="flat" cmpd="sng" algn="ctr">
                      <a:solidFill>
                        <a:srgbClr val="306D7C"/>
                      </a:solidFill>
                      <a:prstDash val="solid"/>
                      <a:round/>
                      <a:headEnd type="none" w="med" len="med"/>
                      <a:tailEnd type="none" w="med" len="med"/>
                    </a:lnT>
                    <a:lnB w="12700" cap="flat" cmpd="sng" algn="ctr">
                      <a:solidFill>
                        <a:srgbClr val="D0697C"/>
                      </a:solidFill>
                      <a:prstDash val="solid"/>
                      <a:round/>
                      <a:headEnd type="none" w="med" len="med"/>
                      <a:tailEnd type="none" w="med" len="med"/>
                    </a:lnB>
                    <a:solidFill>
                      <a:srgbClr val="FFFFFF"/>
                    </a:solidFill>
                  </a:tcPr>
                </a:tc>
                <a:extLst>
                  <a:ext uri="{0D108BD9-81ED-4DB2-BD59-A6C34878D82A}">
                    <a16:rowId xmlns:a16="http://schemas.microsoft.com/office/drawing/2014/main" val="2301451800"/>
                  </a:ext>
                </a:extLst>
              </a:tr>
              <a:tr h="503839">
                <a:tc>
                  <a:txBody>
                    <a:bodyPr/>
                    <a:lstStyle/>
                    <a:p>
                      <a:r>
                        <a:rPr lang="en-IN" sz="1800" dirty="0"/>
                        <a:t>average()</a:t>
                      </a:r>
                    </a:p>
                  </a:txBody>
                  <a:tcPr marL="45804" marR="45804" marT="45804" marB="45804" anchor="ctr">
                    <a:lnL w="12700" cap="flat" cmpd="sng" algn="ctr">
                      <a:solidFill>
                        <a:srgbClr val="D0697C"/>
                      </a:solidFill>
                      <a:prstDash val="solid"/>
                      <a:round/>
                      <a:headEnd type="none" w="med" len="med"/>
                      <a:tailEnd type="none" w="med" len="med"/>
                    </a:lnL>
                    <a:lnR w="12700" cap="flat" cmpd="sng" algn="ctr">
                      <a:solidFill>
                        <a:srgbClr val="D0697C"/>
                      </a:solidFill>
                      <a:prstDash val="solid"/>
                      <a:round/>
                      <a:headEnd type="none" w="med" len="med"/>
                      <a:tailEnd type="none" w="med" len="med"/>
                    </a:lnR>
                    <a:lnT w="12700" cap="flat" cmpd="sng" algn="ctr">
                      <a:solidFill>
                        <a:srgbClr val="D069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tc>
                  <a:txBody>
                    <a:bodyPr/>
                    <a:lstStyle/>
                    <a:p>
                      <a:r>
                        <a:rPr lang="en-US" sz="1800">
                          <a:effectLst/>
                        </a:rPr>
                        <a:t>It returns the average value of an expression.</a:t>
                      </a:r>
                    </a:p>
                  </a:txBody>
                  <a:tcPr marL="45804" marR="45804" marT="45804" marB="45804" anchor="ctr">
                    <a:lnL w="12700" cap="flat" cmpd="sng" algn="ctr">
                      <a:solidFill>
                        <a:srgbClr val="D0697C"/>
                      </a:solidFill>
                      <a:prstDash val="solid"/>
                      <a:round/>
                      <a:headEnd type="none" w="med" len="med"/>
                      <a:tailEnd type="none" w="med" len="med"/>
                    </a:lnL>
                    <a:lnR w="12700" cap="flat" cmpd="sng" algn="ctr">
                      <a:solidFill>
                        <a:srgbClr val="D0697C"/>
                      </a:solidFill>
                      <a:prstDash val="solid"/>
                      <a:round/>
                      <a:headEnd type="none" w="med" len="med"/>
                      <a:tailEnd type="none" w="med" len="med"/>
                    </a:lnR>
                    <a:lnT w="12700" cap="flat" cmpd="sng" algn="ctr">
                      <a:solidFill>
                        <a:srgbClr val="D069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extLst>
                  <a:ext uri="{0D108BD9-81ED-4DB2-BD59-A6C34878D82A}">
                    <a16:rowId xmlns:a16="http://schemas.microsoft.com/office/drawing/2014/main" val="1166500308"/>
                  </a:ext>
                </a:extLst>
              </a:tr>
              <a:tr h="503839">
                <a:tc>
                  <a:txBody>
                    <a:bodyPr/>
                    <a:lstStyle/>
                    <a:p>
                      <a:r>
                        <a:rPr lang="en-IN" sz="1800" dirty="0"/>
                        <a:t>min()</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tc>
                  <a:txBody>
                    <a:bodyPr/>
                    <a:lstStyle/>
                    <a:p>
                      <a:r>
                        <a:rPr lang="en-US" sz="1800">
                          <a:effectLst/>
                        </a:rPr>
                        <a:t>It returns the minimum (lowest) value in a set.</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extLst>
                  <a:ext uri="{0D108BD9-81ED-4DB2-BD59-A6C34878D82A}">
                    <a16:rowId xmlns:a16="http://schemas.microsoft.com/office/drawing/2014/main" val="1445884459"/>
                  </a:ext>
                </a:extLst>
              </a:tr>
              <a:tr h="503839">
                <a:tc>
                  <a:txBody>
                    <a:bodyPr/>
                    <a:lstStyle/>
                    <a:p>
                      <a:r>
                        <a:rPr lang="en-IN" sz="1800" dirty="0"/>
                        <a:t>max()</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tc>
                  <a:txBody>
                    <a:bodyPr/>
                    <a:lstStyle/>
                    <a:p>
                      <a:r>
                        <a:rPr lang="en-US" sz="1800">
                          <a:effectLst/>
                        </a:rPr>
                        <a:t>It returns the maximum (highest) value in a set.</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extLst>
                  <a:ext uri="{0D108BD9-81ED-4DB2-BD59-A6C34878D82A}">
                    <a16:rowId xmlns:a16="http://schemas.microsoft.com/office/drawing/2014/main" val="3705152687"/>
                  </a:ext>
                </a:extLst>
              </a:tr>
              <a:tr h="297723">
                <a:tc>
                  <a:txBody>
                    <a:bodyPr/>
                    <a:lstStyle/>
                    <a:p>
                      <a:r>
                        <a:rPr lang="en-IN" sz="1800" dirty="0"/>
                        <a:t>groutp_concat()</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306D7C"/>
                      </a:solidFill>
                      <a:prstDash val="solid"/>
                      <a:round/>
                      <a:headEnd type="none" w="med" len="med"/>
                      <a:tailEnd type="none" w="med" len="med"/>
                    </a:lnB>
                    <a:solidFill>
                      <a:srgbClr val="FFFFFF"/>
                    </a:solidFill>
                  </a:tcPr>
                </a:tc>
                <a:tc>
                  <a:txBody>
                    <a:bodyPr/>
                    <a:lstStyle/>
                    <a:p>
                      <a:r>
                        <a:rPr lang="en-US" sz="1800">
                          <a:effectLst/>
                        </a:rPr>
                        <a:t>It returns a concatenated string.</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306D7C"/>
                      </a:solidFill>
                      <a:prstDash val="solid"/>
                      <a:round/>
                      <a:headEnd type="none" w="med" len="med"/>
                      <a:tailEnd type="none" w="med" len="med"/>
                    </a:lnB>
                    <a:solidFill>
                      <a:srgbClr val="FFFFFF"/>
                    </a:solidFill>
                  </a:tcPr>
                </a:tc>
                <a:extLst>
                  <a:ext uri="{0D108BD9-81ED-4DB2-BD59-A6C34878D82A}">
                    <a16:rowId xmlns:a16="http://schemas.microsoft.com/office/drawing/2014/main" val="2660810450"/>
                  </a:ext>
                </a:extLst>
              </a:tr>
              <a:tr h="503839">
                <a:tc>
                  <a:txBody>
                    <a:bodyPr/>
                    <a:lstStyle/>
                    <a:p>
                      <a:r>
                        <a:rPr lang="en-IN" sz="1800" dirty="0"/>
                        <a:t>first()</a:t>
                      </a:r>
                    </a:p>
                  </a:txBody>
                  <a:tcPr marL="45804" marR="45804" marT="45804" marB="45804" anchor="ctr">
                    <a:lnL w="12700" cap="flat" cmpd="sng" algn="ctr">
                      <a:solidFill>
                        <a:srgbClr val="306D7C"/>
                      </a:solidFill>
                      <a:prstDash val="solid"/>
                      <a:round/>
                      <a:headEnd type="none" w="med" len="med"/>
                      <a:tailEnd type="none" w="med" len="med"/>
                    </a:lnL>
                    <a:lnR w="12700" cap="flat" cmpd="sng" algn="ctr">
                      <a:solidFill>
                        <a:srgbClr val="306D7C"/>
                      </a:solidFill>
                      <a:prstDash val="solid"/>
                      <a:round/>
                      <a:headEnd type="none" w="med" len="med"/>
                      <a:tailEnd type="none" w="med" len="med"/>
                    </a:lnR>
                    <a:lnT w="12700" cap="flat" cmpd="sng" algn="ctr">
                      <a:solidFill>
                        <a:srgbClr val="306D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tc>
                  <a:txBody>
                    <a:bodyPr/>
                    <a:lstStyle/>
                    <a:p>
                      <a:r>
                        <a:rPr lang="en-US" sz="1800">
                          <a:effectLst/>
                        </a:rPr>
                        <a:t>It returns the first value of an expression.</a:t>
                      </a:r>
                    </a:p>
                  </a:txBody>
                  <a:tcPr marL="45804" marR="45804" marT="45804" marB="45804" anchor="ctr">
                    <a:lnL w="12700" cap="flat" cmpd="sng" algn="ctr">
                      <a:solidFill>
                        <a:srgbClr val="306D7C"/>
                      </a:solidFill>
                      <a:prstDash val="solid"/>
                      <a:round/>
                      <a:headEnd type="none" w="med" len="med"/>
                      <a:tailEnd type="none" w="med" len="med"/>
                    </a:lnL>
                    <a:lnR w="12700" cap="flat" cmpd="sng" algn="ctr">
                      <a:solidFill>
                        <a:srgbClr val="306D7C"/>
                      </a:solidFill>
                      <a:prstDash val="solid"/>
                      <a:round/>
                      <a:headEnd type="none" w="med" len="med"/>
                      <a:tailEnd type="none" w="med" len="med"/>
                    </a:lnR>
                    <a:lnT w="12700" cap="flat" cmpd="sng" algn="ctr">
                      <a:solidFill>
                        <a:srgbClr val="306D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extLst>
                  <a:ext uri="{0D108BD9-81ED-4DB2-BD59-A6C34878D82A}">
                    <a16:rowId xmlns:a16="http://schemas.microsoft.com/office/drawing/2014/main" val="2222053115"/>
                  </a:ext>
                </a:extLst>
              </a:tr>
              <a:tr h="503839">
                <a:tc>
                  <a:txBody>
                    <a:bodyPr/>
                    <a:lstStyle/>
                    <a:p>
                      <a:r>
                        <a:rPr lang="en-IN" sz="1800" dirty="0"/>
                        <a:t>last()</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tc>
                  <a:txBody>
                    <a:bodyPr/>
                    <a:lstStyle/>
                    <a:p>
                      <a:r>
                        <a:rPr lang="en-US" sz="1800" dirty="0">
                          <a:effectLst/>
                        </a:rPr>
                        <a:t>It returns the last value of an expression.</a:t>
                      </a:r>
                    </a:p>
                  </a:txBody>
                  <a:tcPr marL="45804" marR="45804" marT="45804" marB="45804" anchor="ctr">
                    <a:lnL w="12700" cap="flat" cmpd="sng" algn="ctr">
                      <a:solidFill>
                        <a:srgbClr val="106F7C"/>
                      </a:solidFill>
                      <a:prstDash val="solid"/>
                      <a:round/>
                      <a:headEnd type="none" w="med" len="med"/>
                      <a:tailEnd type="none" w="med" len="med"/>
                    </a:lnL>
                    <a:lnR w="12700" cap="flat" cmpd="sng" algn="ctr">
                      <a:solidFill>
                        <a:srgbClr val="106F7C"/>
                      </a:solidFill>
                      <a:prstDash val="solid"/>
                      <a:round/>
                      <a:headEnd type="none" w="med" len="med"/>
                      <a:tailEnd type="none" w="med" len="med"/>
                    </a:lnR>
                    <a:lnT w="12700" cap="flat" cmpd="sng" algn="ctr">
                      <a:solidFill>
                        <a:srgbClr val="106F7C"/>
                      </a:solidFill>
                      <a:prstDash val="solid"/>
                      <a:round/>
                      <a:headEnd type="none" w="med" len="med"/>
                      <a:tailEnd type="none" w="med" len="med"/>
                    </a:lnT>
                    <a:lnB w="12700" cap="flat" cmpd="sng" algn="ctr">
                      <a:solidFill>
                        <a:srgbClr val="106F7C"/>
                      </a:solidFill>
                      <a:prstDash val="solid"/>
                      <a:round/>
                      <a:headEnd type="none" w="med" len="med"/>
                      <a:tailEnd type="none" w="med" len="med"/>
                    </a:lnB>
                    <a:solidFill>
                      <a:srgbClr val="FFFFFF"/>
                    </a:solidFill>
                  </a:tcPr>
                </a:tc>
                <a:extLst>
                  <a:ext uri="{0D108BD9-81ED-4DB2-BD59-A6C34878D82A}">
                    <a16:rowId xmlns:a16="http://schemas.microsoft.com/office/drawing/2014/main" val="737479359"/>
                  </a:ext>
                </a:extLst>
              </a:tr>
            </a:tbl>
          </a:graphicData>
        </a:graphic>
      </p:graphicFrame>
    </p:spTree>
    <p:extLst>
      <p:ext uri="{BB962C8B-B14F-4D97-AF65-F5344CB8AC3E}">
        <p14:creationId xmlns:p14="http://schemas.microsoft.com/office/powerpoint/2010/main" val="3289501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423B9A-9E0C-6136-5FF9-EC6B75706722}"/>
              </a:ext>
            </a:extLst>
          </p:cNvPr>
          <p:cNvSpPr txBox="1"/>
          <p:nvPr/>
        </p:nvSpPr>
        <p:spPr>
          <a:xfrm>
            <a:off x="650240" y="336957"/>
            <a:ext cx="4572000" cy="3970318"/>
          </a:xfrm>
          <a:prstGeom prst="rect">
            <a:avLst/>
          </a:prstGeom>
          <a:noFill/>
        </p:spPr>
        <p:txBody>
          <a:bodyPr wrap="square">
            <a:spAutoFit/>
          </a:bodyPr>
          <a:lstStyle/>
          <a:p>
            <a:r>
              <a:rPr lang="en-US" dirty="0"/>
              <a:t>CREATE TABLE employee(  </a:t>
            </a:r>
          </a:p>
          <a:p>
            <a:r>
              <a:rPr lang="en-US" dirty="0"/>
              <a:t>    name varchar(45) NOT NULL,    </a:t>
            </a:r>
          </a:p>
          <a:p>
            <a:r>
              <a:rPr lang="en-US" dirty="0"/>
              <a:t>    occupation varchar(35) NOT NULL,    </a:t>
            </a:r>
          </a:p>
          <a:p>
            <a:r>
              <a:rPr lang="en-US" dirty="0"/>
              <a:t>    </a:t>
            </a:r>
            <a:r>
              <a:rPr lang="en-US" dirty="0" err="1"/>
              <a:t>working_date</a:t>
            </a:r>
            <a:r>
              <a:rPr lang="en-US" dirty="0"/>
              <a:t> date,  </a:t>
            </a:r>
          </a:p>
          <a:p>
            <a:r>
              <a:rPr lang="en-US" dirty="0"/>
              <a:t>    </a:t>
            </a:r>
            <a:r>
              <a:rPr lang="en-US" dirty="0" err="1"/>
              <a:t>working_hours</a:t>
            </a:r>
            <a:r>
              <a:rPr lang="en-US" dirty="0"/>
              <a:t> varchar(10)  </a:t>
            </a:r>
          </a:p>
          <a:p>
            <a:r>
              <a:rPr lang="en-US" dirty="0"/>
              <a:t>); </a:t>
            </a:r>
          </a:p>
          <a:p>
            <a:endParaRPr lang="en-US" dirty="0"/>
          </a:p>
          <a:p>
            <a:r>
              <a:rPr lang="en-IN" dirty="0"/>
              <a:t>INSERT INTO employee VALUES    </a:t>
            </a:r>
          </a:p>
          <a:p>
            <a:r>
              <a:rPr lang="en-IN" dirty="0"/>
              <a:t>('Robin', 'Scientist', '2020-10-04', 12),  </a:t>
            </a:r>
          </a:p>
          <a:p>
            <a:r>
              <a:rPr lang="en-IN" dirty="0"/>
              <a:t>('Warner', 'Engineer', '2020-10-04', 10),  </a:t>
            </a:r>
          </a:p>
          <a:p>
            <a:r>
              <a:rPr lang="en-IN" dirty="0"/>
              <a:t>('Peter', 'Actor', '2020-10-04', 13),  </a:t>
            </a:r>
          </a:p>
          <a:p>
            <a:r>
              <a:rPr lang="en-IN" dirty="0"/>
              <a:t>('Marco', 'Doctor', '2020-10-04', 14),  </a:t>
            </a:r>
          </a:p>
          <a:p>
            <a:r>
              <a:rPr lang="en-IN" dirty="0"/>
              <a:t>('Brayden', 'Teacher', '2020-10-04', 12),  </a:t>
            </a:r>
          </a:p>
          <a:p>
            <a:r>
              <a:rPr lang="en-IN" dirty="0"/>
              <a:t>('Antonio', 'Business', '2020-10-04', 11); </a:t>
            </a:r>
          </a:p>
        </p:txBody>
      </p:sp>
      <p:pic>
        <p:nvPicPr>
          <p:cNvPr id="5122" name="Picture 2" descr="MySQL Aggregate Functions">
            <a:extLst>
              <a:ext uri="{FF2B5EF4-FFF2-40B4-BE49-F238E27FC236}">
                <a16:creationId xmlns:a16="http://schemas.microsoft.com/office/drawing/2014/main" id="{BB361EA7-609B-A05F-4A4B-7D8EA880C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940" y="4307275"/>
            <a:ext cx="662940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677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D400EB-ED54-0598-4912-4F9AA29C5494}"/>
              </a:ext>
            </a:extLst>
          </p:cNvPr>
          <p:cNvSpPr txBox="1"/>
          <p:nvPr/>
        </p:nvSpPr>
        <p:spPr>
          <a:xfrm>
            <a:off x="528320" y="355104"/>
            <a:ext cx="8331200" cy="3170099"/>
          </a:xfrm>
          <a:prstGeom prst="rect">
            <a:avLst/>
          </a:prstGeom>
          <a:noFill/>
        </p:spPr>
        <p:txBody>
          <a:bodyPr wrap="square">
            <a:spAutoFit/>
          </a:bodyPr>
          <a:lstStyle/>
          <a:p>
            <a:pPr algn="ctr"/>
            <a:r>
              <a:rPr lang="en-US" sz="2000" dirty="0">
                <a:highlight>
                  <a:srgbClr val="FFFF00"/>
                </a:highlight>
              </a:rPr>
              <a:t>Count() Function</a:t>
            </a:r>
          </a:p>
          <a:p>
            <a:r>
              <a:rPr lang="en-US" dirty="0"/>
              <a:t>MySQL count() function returns the total number of values in the expression. </a:t>
            </a:r>
          </a:p>
          <a:p>
            <a:r>
              <a:rPr lang="en-US" dirty="0"/>
              <a:t>This function produces all rows or only some rows of the table based on a specified condition, and its return type is BIGINT. </a:t>
            </a:r>
          </a:p>
          <a:p>
            <a:r>
              <a:rPr lang="en-US" dirty="0"/>
              <a:t>It returns zero if it does not find any matching rows. It can work with both numeric and non-numeric data types.</a:t>
            </a:r>
          </a:p>
          <a:p>
            <a:endParaRPr lang="en-US" dirty="0"/>
          </a:p>
          <a:p>
            <a:r>
              <a:rPr lang="en-US" dirty="0"/>
              <a:t>Example</a:t>
            </a:r>
          </a:p>
          <a:p>
            <a:r>
              <a:rPr lang="en-US" dirty="0"/>
              <a:t>Suppose we want to get the total number of employees in the employee table</a:t>
            </a:r>
          </a:p>
          <a:p>
            <a:endParaRPr lang="en-US" dirty="0"/>
          </a:p>
          <a:p>
            <a:r>
              <a:rPr lang="en-US" dirty="0" err="1"/>
              <a:t>mysql</a:t>
            </a:r>
            <a:r>
              <a:rPr lang="en-US" dirty="0"/>
              <a:t>&gt; SELECT COUNT(name) FROM employee; </a:t>
            </a:r>
            <a:endParaRPr lang="en-IN" dirty="0"/>
          </a:p>
        </p:txBody>
      </p:sp>
      <p:pic>
        <p:nvPicPr>
          <p:cNvPr id="6146" name="Picture 2" descr="MySQL Aggregate Functions">
            <a:extLst>
              <a:ext uri="{FF2B5EF4-FFF2-40B4-BE49-F238E27FC236}">
                <a16:creationId xmlns:a16="http://schemas.microsoft.com/office/drawing/2014/main" id="{14C598A6-99DC-EFA2-B3E1-BC05EF713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669" y="3746818"/>
            <a:ext cx="7878107" cy="1871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209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B6A9DE-E5E7-F1EA-DA6B-CA1590ECF5DC}"/>
              </a:ext>
            </a:extLst>
          </p:cNvPr>
          <p:cNvSpPr txBox="1"/>
          <p:nvPr/>
        </p:nvSpPr>
        <p:spPr>
          <a:xfrm>
            <a:off x="538480" y="322501"/>
            <a:ext cx="8006080" cy="2400657"/>
          </a:xfrm>
          <a:prstGeom prst="rect">
            <a:avLst/>
          </a:prstGeom>
          <a:noFill/>
        </p:spPr>
        <p:txBody>
          <a:bodyPr wrap="square">
            <a:spAutoFit/>
          </a:bodyPr>
          <a:lstStyle/>
          <a:p>
            <a:pPr algn="ctr"/>
            <a:r>
              <a:rPr lang="en-US" sz="2400" dirty="0">
                <a:highlight>
                  <a:srgbClr val="FFFF00"/>
                </a:highlight>
              </a:rPr>
              <a:t>Sum() Function</a:t>
            </a:r>
          </a:p>
          <a:p>
            <a:r>
              <a:rPr lang="en-US" dirty="0"/>
              <a:t>The MySQL sum() function returns the total summed (non-NULL) value of an expression. It returns NULL if the result set does not have any rows. It works with numeric data type only.</a:t>
            </a:r>
          </a:p>
          <a:p>
            <a:endParaRPr lang="en-US" dirty="0"/>
          </a:p>
          <a:p>
            <a:r>
              <a:rPr lang="en-US" dirty="0"/>
              <a:t>Suppose we want to calculate the total number of working hours of all employees </a:t>
            </a:r>
          </a:p>
          <a:p>
            <a:endParaRPr lang="en-US" dirty="0"/>
          </a:p>
          <a:p>
            <a:r>
              <a:rPr lang="en-US" dirty="0" err="1"/>
              <a:t>mysql</a:t>
            </a:r>
            <a:r>
              <a:rPr lang="en-US" dirty="0"/>
              <a:t>&gt; SELECT SUM(</a:t>
            </a:r>
            <a:r>
              <a:rPr lang="en-US" dirty="0" err="1"/>
              <a:t>working_hours</a:t>
            </a:r>
            <a:r>
              <a:rPr lang="en-US" dirty="0"/>
              <a:t>) AS "Total working hours" FROM employee; </a:t>
            </a:r>
            <a:endParaRPr lang="en-IN" dirty="0"/>
          </a:p>
        </p:txBody>
      </p:sp>
      <p:pic>
        <p:nvPicPr>
          <p:cNvPr id="7170" name="Picture 2" descr="MySQL Aggregate Functions">
            <a:extLst>
              <a:ext uri="{FF2B5EF4-FFF2-40B4-BE49-F238E27FC236}">
                <a16:creationId xmlns:a16="http://schemas.microsoft.com/office/drawing/2014/main" id="{1F5775CC-65AD-51C4-D20A-BCBB926AC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540" y="3072130"/>
            <a:ext cx="7824958" cy="1753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992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27313B-33CC-7180-6205-66A483270938}"/>
              </a:ext>
            </a:extLst>
          </p:cNvPr>
          <p:cNvSpPr txBox="1"/>
          <p:nvPr/>
        </p:nvSpPr>
        <p:spPr>
          <a:xfrm>
            <a:off x="457200" y="425718"/>
            <a:ext cx="8128000" cy="2123658"/>
          </a:xfrm>
          <a:prstGeom prst="rect">
            <a:avLst/>
          </a:prstGeom>
          <a:noFill/>
        </p:spPr>
        <p:txBody>
          <a:bodyPr wrap="square">
            <a:spAutoFit/>
          </a:bodyPr>
          <a:lstStyle/>
          <a:p>
            <a:pPr algn="ctr"/>
            <a:r>
              <a:rPr lang="en-US" sz="2400" dirty="0">
                <a:highlight>
                  <a:srgbClr val="FFFF00"/>
                </a:highlight>
              </a:rPr>
              <a:t>AVG() Function</a:t>
            </a:r>
          </a:p>
          <a:p>
            <a:r>
              <a:rPr lang="en-US" dirty="0"/>
              <a:t>MySQL AVG() function calculates the average of the values specified in the column. Similar to the SUM() function, it also works with numeric data type only.</a:t>
            </a:r>
          </a:p>
          <a:p>
            <a:endParaRPr lang="en-US" dirty="0"/>
          </a:p>
          <a:p>
            <a:r>
              <a:rPr lang="en-US" dirty="0"/>
              <a:t>Suppose we want to get the average working hours of all employees</a:t>
            </a:r>
          </a:p>
          <a:p>
            <a:endParaRPr lang="en-US" dirty="0"/>
          </a:p>
          <a:p>
            <a:r>
              <a:rPr lang="en-US" dirty="0" err="1"/>
              <a:t>mysql</a:t>
            </a:r>
            <a:r>
              <a:rPr lang="en-US" dirty="0"/>
              <a:t>&gt; SELECT AVG(</a:t>
            </a:r>
            <a:r>
              <a:rPr lang="en-US" dirty="0" err="1"/>
              <a:t>working_hours</a:t>
            </a:r>
            <a:r>
              <a:rPr lang="en-US" dirty="0"/>
              <a:t>) AS "Average working hours" FROM employee; </a:t>
            </a:r>
            <a:endParaRPr lang="en-IN" dirty="0"/>
          </a:p>
        </p:txBody>
      </p:sp>
      <p:pic>
        <p:nvPicPr>
          <p:cNvPr id="8194" name="Picture 2" descr="MySQL Aggregate Functions">
            <a:extLst>
              <a:ext uri="{FF2B5EF4-FFF2-40B4-BE49-F238E27FC236}">
                <a16:creationId xmlns:a16="http://schemas.microsoft.com/office/drawing/2014/main" id="{2DEACF81-69AC-1E1B-81E2-ADD26B82B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81" y="3255010"/>
            <a:ext cx="8414238"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026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330827-0393-3CE6-3841-6C8C7895C42E}"/>
              </a:ext>
            </a:extLst>
          </p:cNvPr>
          <p:cNvSpPr txBox="1"/>
          <p:nvPr/>
        </p:nvSpPr>
        <p:spPr>
          <a:xfrm>
            <a:off x="386080" y="298996"/>
            <a:ext cx="8067040" cy="2062103"/>
          </a:xfrm>
          <a:prstGeom prst="rect">
            <a:avLst/>
          </a:prstGeom>
          <a:noFill/>
        </p:spPr>
        <p:txBody>
          <a:bodyPr wrap="square">
            <a:spAutoFit/>
          </a:bodyPr>
          <a:lstStyle/>
          <a:p>
            <a:pPr algn="ctr"/>
            <a:r>
              <a:rPr lang="en-US" sz="2000" dirty="0">
                <a:highlight>
                  <a:srgbClr val="FFFF00"/>
                </a:highlight>
              </a:rPr>
              <a:t>MIN() Function</a:t>
            </a:r>
          </a:p>
          <a:p>
            <a:r>
              <a:rPr lang="en-US" dirty="0"/>
              <a:t>MySQL MIN() function returns the minimum (lowest) value of the specified column. It also works with numeric data type only.</a:t>
            </a:r>
          </a:p>
          <a:p>
            <a:endParaRPr lang="en-US" dirty="0"/>
          </a:p>
          <a:p>
            <a:r>
              <a:rPr lang="en-US" dirty="0"/>
              <a:t>Suppose we want to get minimum working hours of an employee</a:t>
            </a:r>
          </a:p>
          <a:p>
            <a:endParaRPr lang="en-US" dirty="0"/>
          </a:p>
          <a:p>
            <a:r>
              <a:rPr lang="en-US" dirty="0" err="1"/>
              <a:t>mysql</a:t>
            </a:r>
            <a:r>
              <a:rPr lang="en-US" dirty="0"/>
              <a:t>&gt; SELECT MIN(</a:t>
            </a:r>
            <a:r>
              <a:rPr lang="en-US" dirty="0" err="1"/>
              <a:t>working_hours</a:t>
            </a:r>
            <a:r>
              <a:rPr lang="en-US" dirty="0"/>
              <a:t>) AS </a:t>
            </a:r>
            <a:r>
              <a:rPr lang="en-US" dirty="0" err="1"/>
              <a:t>Minimum_working_hours</a:t>
            </a:r>
            <a:r>
              <a:rPr lang="en-US" dirty="0"/>
              <a:t> FROM employee; </a:t>
            </a:r>
            <a:endParaRPr lang="en-IN" dirty="0"/>
          </a:p>
        </p:txBody>
      </p:sp>
      <p:pic>
        <p:nvPicPr>
          <p:cNvPr id="6" name="Picture 5">
            <a:extLst>
              <a:ext uri="{FF2B5EF4-FFF2-40B4-BE49-F238E27FC236}">
                <a16:creationId xmlns:a16="http://schemas.microsoft.com/office/drawing/2014/main" id="{194E7942-34CE-975A-4A3B-DF573FA81E2F}"/>
              </a:ext>
            </a:extLst>
          </p:cNvPr>
          <p:cNvPicPr>
            <a:picLocks noChangeAspect="1"/>
          </p:cNvPicPr>
          <p:nvPr/>
        </p:nvPicPr>
        <p:blipFill>
          <a:blip r:embed="rId2"/>
          <a:stretch>
            <a:fillRect/>
          </a:stretch>
        </p:blipFill>
        <p:spPr>
          <a:xfrm>
            <a:off x="525780" y="2787650"/>
            <a:ext cx="8096934" cy="1814830"/>
          </a:xfrm>
          <a:prstGeom prst="rect">
            <a:avLst/>
          </a:prstGeom>
        </p:spPr>
      </p:pic>
    </p:spTree>
    <p:extLst>
      <p:ext uri="{BB962C8B-B14F-4D97-AF65-F5344CB8AC3E}">
        <p14:creationId xmlns:p14="http://schemas.microsoft.com/office/powerpoint/2010/main" val="2314237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52AE7F-92D1-4CF4-8763-AD2B0CD6CDBA}"/>
              </a:ext>
            </a:extLst>
          </p:cNvPr>
          <p:cNvSpPr txBox="1"/>
          <p:nvPr/>
        </p:nvSpPr>
        <p:spPr>
          <a:xfrm>
            <a:off x="457200" y="421978"/>
            <a:ext cx="8209280" cy="2062103"/>
          </a:xfrm>
          <a:prstGeom prst="rect">
            <a:avLst/>
          </a:prstGeom>
          <a:noFill/>
        </p:spPr>
        <p:txBody>
          <a:bodyPr wrap="square">
            <a:spAutoFit/>
          </a:bodyPr>
          <a:lstStyle/>
          <a:p>
            <a:pPr algn="ctr"/>
            <a:r>
              <a:rPr lang="en-US" sz="2000" dirty="0">
                <a:highlight>
                  <a:srgbClr val="FFFF00"/>
                </a:highlight>
              </a:rPr>
              <a:t>MAX() Function</a:t>
            </a:r>
          </a:p>
          <a:p>
            <a:r>
              <a:rPr lang="en-US" dirty="0"/>
              <a:t>MySQL MAX() function returns the maximum (highest) value of the specified column. It also works with numeric data type only.</a:t>
            </a:r>
          </a:p>
          <a:p>
            <a:endParaRPr lang="en-US" dirty="0"/>
          </a:p>
          <a:p>
            <a:r>
              <a:rPr lang="en-US" dirty="0"/>
              <a:t>Suppose we want to get maximum working hours of an employee</a:t>
            </a:r>
          </a:p>
          <a:p>
            <a:endParaRPr lang="en-US" dirty="0"/>
          </a:p>
          <a:p>
            <a:r>
              <a:rPr lang="en-US" dirty="0" err="1"/>
              <a:t>mysql</a:t>
            </a:r>
            <a:r>
              <a:rPr lang="en-US" dirty="0"/>
              <a:t>&gt; SELECT MAX(</a:t>
            </a:r>
            <a:r>
              <a:rPr lang="en-US" dirty="0" err="1"/>
              <a:t>working_hours</a:t>
            </a:r>
            <a:r>
              <a:rPr lang="en-US" dirty="0"/>
              <a:t>) AS </a:t>
            </a:r>
            <a:r>
              <a:rPr lang="en-US" dirty="0" err="1"/>
              <a:t>Maximum_working_hours</a:t>
            </a:r>
            <a:r>
              <a:rPr lang="en-US" dirty="0"/>
              <a:t> FROM employee; </a:t>
            </a:r>
            <a:endParaRPr lang="en-IN" dirty="0"/>
          </a:p>
        </p:txBody>
      </p:sp>
      <p:pic>
        <p:nvPicPr>
          <p:cNvPr id="6" name="Picture 5">
            <a:extLst>
              <a:ext uri="{FF2B5EF4-FFF2-40B4-BE49-F238E27FC236}">
                <a16:creationId xmlns:a16="http://schemas.microsoft.com/office/drawing/2014/main" id="{B65E7940-5EC7-3B77-B641-EE7BF5D78F6F}"/>
              </a:ext>
            </a:extLst>
          </p:cNvPr>
          <p:cNvPicPr>
            <a:picLocks noChangeAspect="1"/>
          </p:cNvPicPr>
          <p:nvPr/>
        </p:nvPicPr>
        <p:blipFill>
          <a:blip r:embed="rId2"/>
          <a:stretch>
            <a:fillRect/>
          </a:stretch>
        </p:blipFill>
        <p:spPr>
          <a:xfrm>
            <a:off x="457200" y="2888020"/>
            <a:ext cx="8283738" cy="1856700"/>
          </a:xfrm>
          <a:prstGeom prst="rect">
            <a:avLst/>
          </a:prstGeom>
        </p:spPr>
      </p:pic>
    </p:spTree>
    <p:extLst>
      <p:ext uri="{BB962C8B-B14F-4D97-AF65-F5344CB8AC3E}">
        <p14:creationId xmlns:p14="http://schemas.microsoft.com/office/powerpoint/2010/main" val="2546053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1940D5-FBAF-1896-7B4D-7AD367BAE439}"/>
              </a:ext>
            </a:extLst>
          </p:cNvPr>
          <p:cNvSpPr txBox="1"/>
          <p:nvPr/>
        </p:nvSpPr>
        <p:spPr>
          <a:xfrm>
            <a:off x="477520" y="363141"/>
            <a:ext cx="7965440" cy="2616101"/>
          </a:xfrm>
          <a:prstGeom prst="rect">
            <a:avLst/>
          </a:prstGeom>
          <a:noFill/>
        </p:spPr>
        <p:txBody>
          <a:bodyPr wrap="square">
            <a:spAutoFit/>
          </a:bodyPr>
          <a:lstStyle/>
          <a:p>
            <a:pPr algn="ctr"/>
            <a:r>
              <a:rPr lang="en-US" sz="2000" dirty="0">
                <a:highlight>
                  <a:srgbClr val="FFFF00"/>
                </a:highlight>
              </a:rPr>
              <a:t>FIRST() Function</a:t>
            </a:r>
          </a:p>
          <a:p>
            <a:r>
              <a:rPr lang="en-US" dirty="0"/>
              <a:t>This function returns the first value of the specified column. To get the first value of the column, we must have to use the LIMIT clause. It is because FIRST() function only supports in MS Access.</a:t>
            </a:r>
          </a:p>
          <a:p>
            <a:endParaRPr lang="en-US" dirty="0"/>
          </a:p>
          <a:p>
            <a:r>
              <a:rPr lang="en-US" dirty="0"/>
              <a:t>Suppose we want to get the first working date of an employee available in the table, we need to use the following query:</a:t>
            </a:r>
          </a:p>
          <a:p>
            <a:endParaRPr lang="en-US" dirty="0"/>
          </a:p>
          <a:p>
            <a:r>
              <a:rPr lang="en-US" dirty="0" err="1"/>
              <a:t>mysql</a:t>
            </a:r>
            <a:r>
              <a:rPr lang="en-US" dirty="0"/>
              <a:t>&gt; SELECT </a:t>
            </a:r>
            <a:r>
              <a:rPr lang="en-US" dirty="0" err="1"/>
              <a:t>working_date</a:t>
            </a:r>
            <a:r>
              <a:rPr lang="en-US" dirty="0"/>
              <a:t> FROM employee LIMIT 1; </a:t>
            </a:r>
            <a:endParaRPr lang="en-IN" dirty="0"/>
          </a:p>
        </p:txBody>
      </p:sp>
      <p:pic>
        <p:nvPicPr>
          <p:cNvPr id="9218" name="Picture 2" descr="MySQL Aggregate Functions">
            <a:extLst>
              <a:ext uri="{FF2B5EF4-FFF2-40B4-BE49-F238E27FC236}">
                <a16:creationId xmlns:a16="http://schemas.microsoft.com/office/drawing/2014/main" id="{0CFBAFD4-BA3B-97DA-27FE-9BD141494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520" y="3290253"/>
            <a:ext cx="7976219" cy="2023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263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F23D65-1807-0EDE-9493-86F347090ED1}"/>
              </a:ext>
            </a:extLst>
          </p:cNvPr>
          <p:cNvSpPr txBox="1"/>
          <p:nvPr/>
        </p:nvSpPr>
        <p:spPr>
          <a:xfrm>
            <a:off x="447040" y="292021"/>
            <a:ext cx="8300720" cy="2339102"/>
          </a:xfrm>
          <a:prstGeom prst="rect">
            <a:avLst/>
          </a:prstGeom>
          <a:noFill/>
        </p:spPr>
        <p:txBody>
          <a:bodyPr wrap="square">
            <a:spAutoFit/>
          </a:bodyPr>
          <a:lstStyle/>
          <a:p>
            <a:pPr algn="ctr"/>
            <a:r>
              <a:rPr lang="en-US" sz="2000" dirty="0">
                <a:highlight>
                  <a:srgbClr val="FFFF00"/>
                </a:highlight>
              </a:rPr>
              <a:t>LAST() Function</a:t>
            </a:r>
          </a:p>
          <a:p>
            <a:r>
              <a:rPr lang="en-US" dirty="0"/>
              <a:t>This function returns the last value of the specified column. To get the last value of the column, we must have to use the ORDER BY and LIMIT clause. It is because the LAST() function only supports in MS Access.</a:t>
            </a:r>
          </a:p>
          <a:p>
            <a:endParaRPr lang="en-US" dirty="0"/>
          </a:p>
          <a:p>
            <a:r>
              <a:rPr lang="en-US" dirty="0"/>
              <a:t>Suppose we want to get the last working hour of an employee</a:t>
            </a:r>
          </a:p>
          <a:p>
            <a:endParaRPr lang="en-US" dirty="0"/>
          </a:p>
          <a:p>
            <a:r>
              <a:rPr lang="en-US" dirty="0" err="1"/>
              <a:t>mysql</a:t>
            </a:r>
            <a:r>
              <a:rPr lang="en-US" dirty="0"/>
              <a:t>&gt; SELECT </a:t>
            </a:r>
            <a:r>
              <a:rPr lang="en-US" dirty="0" err="1"/>
              <a:t>working_hours</a:t>
            </a:r>
            <a:r>
              <a:rPr lang="en-US" dirty="0"/>
              <a:t> FROM employee ORDER BY name DESC LIMIT 1; </a:t>
            </a:r>
            <a:endParaRPr lang="en-IN" dirty="0"/>
          </a:p>
        </p:txBody>
      </p:sp>
      <p:pic>
        <p:nvPicPr>
          <p:cNvPr id="10242" name="Picture 2" descr="MySQL Aggregate Functions">
            <a:extLst>
              <a:ext uri="{FF2B5EF4-FFF2-40B4-BE49-F238E27FC236}">
                <a16:creationId xmlns:a16="http://schemas.microsoft.com/office/drawing/2014/main" id="{0822C2C5-D8B8-6A1D-B8D3-D5AE6CE55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 y="3351213"/>
            <a:ext cx="8053478" cy="1891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970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able 23">
            <a:extLst>
              <a:ext uri="{FF2B5EF4-FFF2-40B4-BE49-F238E27FC236}">
                <a16:creationId xmlns:a16="http://schemas.microsoft.com/office/drawing/2014/main" id="{2A391635-8427-6D3F-A97D-34D09C1CD988}"/>
              </a:ext>
            </a:extLst>
          </p:cNvPr>
          <p:cNvGraphicFramePr>
            <a:graphicFrameLocks noGrp="1"/>
          </p:cNvGraphicFramePr>
          <p:nvPr>
            <p:extLst>
              <p:ext uri="{D42A27DB-BD31-4B8C-83A1-F6EECF244321}">
                <p14:modId xmlns:p14="http://schemas.microsoft.com/office/powerpoint/2010/main" val="37612990"/>
              </p:ext>
            </p:extLst>
          </p:nvPr>
        </p:nvGraphicFramePr>
        <p:xfrm>
          <a:off x="177165" y="1085374"/>
          <a:ext cx="8789670" cy="5486400"/>
        </p:xfrm>
        <a:graphic>
          <a:graphicData uri="http://schemas.openxmlformats.org/drawingml/2006/table">
            <a:tbl>
              <a:tblPr/>
              <a:tblGrid>
                <a:gridCol w="1757934">
                  <a:extLst>
                    <a:ext uri="{9D8B030D-6E8A-4147-A177-3AD203B41FA5}">
                      <a16:colId xmlns:a16="http://schemas.microsoft.com/office/drawing/2014/main" val="3437906825"/>
                    </a:ext>
                  </a:extLst>
                </a:gridCol>
                <a:gridCol w="2612136">
                  <a:extLst>
                    <a:ext uri="{9D8B030D-6E8A-4147-A177-3AD203B41FA5}">
                      <a16:colId xmlns:a16="http://schemas.microsoft.com/office/drawing/2014/main" val="1573731602"/>
                    </a:ext>
                  </a:extLst>
                </a:gridCol>
                <a:gridCol w="1930400">
                  <a:extLst>
                    <a:ext uri="{9D8B030D-6E8A-4147-A177-3AD203B41FA5}">
                      <a16:colId xmlns:a16="http://schemas.microsoft.com/office/drawing/2014/main" val="4250360067"/>
                    </a:ext>
                  </a:extLst>
                </a:gridCol>
                <a:gridCol w="1747520">
                  <a:extLst>
                    <a:ext uri="{9D8B030D-6E8A-4147-A177-3AD203B41FA5}">
                      <a16:colId xmlns:a16="http://schemas.microsoft.com/office/drawing/2014/main" val="3988031249"/>
                    </a:ext>
                  </a:extLst>
                </a:gridCol>
                <a:gridCol w="741680">
                  <a:extLst>
                    <a:ext uri="{9D8B030D-6E8A-4147-A177-3AD203B41FA5}">
                      <a16:colId xmlns:a16="http://schemas.microsoft.com/office/drawing/2014/main" val="2325396596"/>
                    </a:ext>
                  </a:extLst>
                </a:gridCol>
              </a:tblGrid>
              <a:tr h="0">
                <a:tc>
                  <a:txBody>
                    <a:bodyPr/>
                    <a:lstStyle/>
                    <a:p>
                      <a:r>
                        <a:rPr lang="en-IN" b="1" dirty="0"/>
                        <a:t>Function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Explanation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Syntax</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Example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Output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4279249"/>
                  </a:ext>
                </a:extLst>
              </a:tr>
              <a:tr h="0">
                <a:tc>
                  <a:txBody>
                    <a:bodyPr/>
                    <a:lstStyle/>
                    <a:p>
                      <a:r>
                        <a:rPr lang="en-IN" dirty="0"/>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value of a number raised to the power of another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POWER(base, exponent)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SELECT POWER(2,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4819581"/>
                  </a:ext>
                </a:extLst>
              </a:tr>
              <a:tr h="0">
                <a:tc>
                  <a:txBody>
                    <a:bodyPr/>
                    <a:lstStyle/>
                    <a:p>
                      <a:r>
                        <a:rPr lang="en-IN" dirty="0"/>
                        <a:t>FLOOR()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largest integer less than or equal to the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FLOOR(number)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FLOOR(4.7);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2708144"/>
                  </a:ext>
                </a:extLst>
              </a:tr>
              <a:tr h="0">
                <a:tc>
                  <a:txBody>
                    <a:bodyPr/>
                    <a:lstStyle/>
                    <a:p>
                      <a:r>
                        <a:rPr lang="en-IN" dirty="0"/>
                        <a:t>CEIL()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smallest integer greater than or equal to the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CEIL(number)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CEIL(4.2);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177269"/>
                  </a:ext>
                </a:extLst>
              </a:tr>
              <a:tr h="0">
                <a:tc>
                  <a:txBody>
                    <a:bodyPr/>
                    <a:lstStyle/>
                    <a:p>
                      <a:r>
                        <a:rPr lang="en-IN" dirty="0"/>
                        <a:t>ROUND()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Rounds a number to a specified number of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ROUND(number, decimals)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ROUND(3.14159,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3.14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7614244"/>
                  </a:ext>
                </a:extLst>
              </a:tr>
              <a:tr h="0">
                <a:tc>
                  <a:txBody>
                    <a:bodyPr/>
                    <a:lstStyle/>
                    <a:p>
                      <a:r>
                        <a:rPr lang="en-IN" dirty="0"/>
                        <a:t>ABS()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absolute (positive) value of a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ABS(number)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ABS(-25);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328245"/>
                  </a:ext>
                </a:extLst>
              </a:tr>
            </a:tbl>
          </a:graphicData>
        </a:graphic>
      </p:graphicFrame>
      <p:sp>
        <p:nvSpPr>
          <p:cNvPr id="3" name="TextBox 2">
            <a:extLst>
              <a:ext uri="{FF2B5EF4-FFF2-40B4-BE49-F238E27FC236}">
                <a16:creationId xmlns:a16="http://schemas.microsoft.com/office/drawing/2014/main" id="{37D570FC-CAEA-9EA7-8565-C08137A658A8}"/>
              </a:ext>
            </a:extLst>
          </p:cNvPr>
          <p:cNvSpPr txBox="1"/>
          <p:nvPr/>
        </p:nvSpPr>
        <p:spPr>
          <a:xfrm>
            <a:off x="518160" y="393115"/>
            <a:ext cx="8067040" cy="400110"/>
          </a:xfrm>
          <a:prstGeom prst="rect">
            <a:avLst/>
          </a:prstGeom>
          <a:noFill/>
        </p:spPr>
        <p:txBody>
          <a:bodyPr wrap="square">
            <a:spAutoFit/>
          </a:bodyPr>
          <a:lstStyle/>
          <a:p>
            <a:pPr algn="ctr" fontAlgn="base"/>
            <a:r>
              <a:rPr lang="en-US" sz="2000" b="1" i="0" dirty="0">
                <a:solidFill>
                  <a:srgbClr val="FF0000"/>
                </a:solidFill>
                <a:effectLst/>
                <a:highlight>
                  <a:srgbClr val="FFFF00"/>
                </a:highlight>
                <a:latin typeface="Source Sans 3"/>
              </a:rPr>
              <a:t>Built-In Functions in MySQL – Numeric, String and Date Time</a:t>
            </a:r>
          </a:p>
        </p:txBody>
      </p:sp>
    </p:spTree>
    <p:extLst>
      <p:ext uri="{BB962C8B-B14F-4D97-AF65-F5344CB8AC3E}">
        <p14:creationId xmlns:p14="http://schemas.microsoft.com/office/powerpoint/2010/main" val="3281405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able 28">
            <a:extLst>
              <a:ext uri="{FF2B5EF4-FFF2-40B4-BE49-F238E27FC236}">
                <a16:creationId xmlns:a16="http://schemas.microsoft.com/office/drawing/2014/main" id="{7507232E-4B9A-1B66-8749-FAB91397BC7C}"/>
              </a:ext>
            </a:extLst>
          </p:cNvPr>
          <p:cNvGraphicFramePr>
            <a:graphicFrameLocks noGrp="1"/>
          </p:cNvGraphicFramePr>
          <p:nvPr>
            <p:extLst>
              <p:ext uri="{D42A27DB-BD31-4B8C-83A1-F6EECF244321}">
                <p14:modId xmlns:p14="http://schemas.microsoft.com/office/powerpoint/2010/main" val="1725598565"/>
              </p:ext>
            </p:extLst>
          </p:nvPr>
        </p:nvGraphicFramePr>
        <p:xfrm>
          <a:off x="628650" y="2995454"/>
          <a:ext cx="1314450" cy="365760"/>
        </p:xfrm>
        <a:graphic>
          <a:graphicData uri="http://schemas.openxmlformats.org/drawingml/2006/table">
            <a:tbl>
              <a:tblPr/>
              <a:tblGrid>
                <a:gridCol w="1314450">
                  <a:extLst>
                    <a:ext uri="{9D8B030D-6E8A-4147-A177-3AD203B41FA5}">
                      <a16:colId xmlns:a16="http://schemas.microsoft.com/office/drawing/2014/main" val="1271105194"/>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3514857475"/>
                  </a:ext>
                </a:extLst>
              </a:tr>
            </a:tbl>
          </a:graphicData>
        </a:graphic>
      </p:graphicFrame>
      <p:graphicFrame>
        <p:nvGraphicFramePr>
          <p:cNvPr id="28" name="Table 27">
            <a:extLst>
              <a:ext uri="{FF2B5EF4-FFF2-40B4-BE49-F238E27FC236}">
                <a16:creationId xmlns:a16="http://schemas.microsoft.com/office/drawing/2014/main" id="{0E7FC9CD-593E-315E-2294-351462524AC5}"/>
              </a:ext>
            </a:extLst>
          </p:cNvPr>
          <p:cNvGraphicFramePr>
            <a:graphicFrameLocks noGrp="1"/>
          </p:cNvGraphicFramePr>
          <p:nvPr>
            <p:extLst>
              <p:ext uri="{D42A27DB-BD31-4B8C-83A1-F6EECF244321}">
                <p14:modId xmlns:p14="http://schemas.microsoft.com/office/powerpoint/2010/main" val="2284943904"/>
              </p:ext>
            </p:extLst>
          </p:nvPr>
        </p:nvGraphicFramePr>
        <p:xfrm>
          <a:off x="242570" y="612934"/>
          <a:ext cx="1314450" cy="365760"/>
        </p:xfrm>
        <a:graphic>
          <a:graphicData uri="http://schemas.openxmlformats.org/drawingml/2006/table">
            <a:tbl>
              <a:tblPr/>
              <a:tblGrid>
                <a:gridCol w="1314450">
                  <a:extLst>
                    <a:ext uri="{9D8B030D-6E8A-4147-A177-3AD203B41FA5}">
                      <a16:colId xmlns:a16="http://schemas.microsoft.com/office/drawing/2014/main" val="654806186"/>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439860826"/>
                  </a:ext>
                </a:extLst>
              </a:tr>
            </a:tbl>
          </a:graphicData>
        </a:graphic>
      </p:graphicFrame>
      <p:graphicFrame>
        <p:nvGraphicFramePr>
          <p:cNvPr id="27" name="Table 26">
            <a:extLst>
              <a:ext uri="{FF2B5EF4-FFF2-40B4-BE49-F238E27FC236}">
                <a16:creationId xmlns:a16="http://schemas.microsoft.com/office/drawing/2014/main" id="{72DD3C10-9226-C24A-B67F-C53CC1D59EAD}"/>
              </a:ext>
            </a:extLst>
          </p:cNvPr>
          <p:cNvGraphicFramePr>
            <a:graphicFrameLocks noGrp="1"/>
          </p:cNvGraphicFramePr>
          <p:nvPr>
            <p:extLst>
              <p:ext uri="{D42A27DB-BD31-4B8C-83A1-F6EECF244321}">
                <p14:modId xmlns:p14="http://schemas.microsoft.com/office/powerpoint/2010/main" val="2909261797"/>
              </p:ext>
            </p:extLst>
          </p:nvPr>
        </p:nvGraphicFramePr>
        <p:xfrm>
          <a:off x="628650" y="1755934"/>
          <a:ext cx="1314450" cy="365760"/>
        </p:xfrm>
        <a:graphic>
          <a:graphicData uri="http://schemas.openxmlformats.org/drawingml/2006/table">
            <a:tbl>
              <a:tblPr/>
              <a:tblGrid>
                <a:gridCol w="1314450">
                  <a:extLst>
                    <a:ext uri="{9D8B030D-6E8A-4147-A177-3AD203B41FA5}">
                      <a16:colId xmlns:a16="http://schemas.microsoft.com/office/drawing/2014/main" val="3778692553"/>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551610597"/>
                  </a:ext>
                </a:extLst>
              </a:tr>
            </a:tbl>
          </a:graphicData>
        </a:graphic>
      </p:graphicFrame>
      <p:graphicFrame>
        <p:nvGraphicFramePr>
          <p:cNvPr id="26" name="Table 25">
            <a:extLst>
              <a:ext uri="{FF2B5EF4-FFF2-40B4-BE49-F238E27FC236}">
                <a16:creationId xmlns:a16="http://schemas.microsoft.com/office/drawing/2014/main" id="{90D25948-46EE-2B63-D99D-CDC2654AD9B3}"/>
              </a:ext>
            </a:extLst>
          </p:cNvPr>
          <p:cNvGraphicFramePr>
            <a:graphicFrameLocks noGrp="1"/>
          </p:cNvGraphicFramePr>
          <p:nvPr>
            <p:extLst>
              <p:ext uri="{D42A27DB-BD31-4B8C-83A1-F6EECF244321}">
                <p14:modId xmlns:p14="http://schemas.microsoft.com/office/powerpoint/2010/main" val="3454859679"/>
              </p:ext>
            </p:extLst>
          </p:nvPr>
        </p:nvGraphicFramePr>
        <p:xfrm>
          <a:off x="811530" y="5332254"/>
          <a:ext cx="1314450" cy="365760"/>
        </p:xfrm>
        <a:graphic>
          <a:graphicData uri="http://schemas.openxmlformats.org/drawingml/2006/table">
            <a:tbl>
              <a:tblPr/>
              <a:tblGrid>
                <a:gridCol w="1314450">
                  <a:extLst>
                    <a:ext uri="{9D8B030D-6E8A-4147-A177-3AD203B41FA5}">
                      <a16:colId xmlns:a16="http://schemas.microsoft.com/office/drawing/2014/main" val="3205580416"/>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597313832"/>
                  </a:ext>
                </a:extLst>
              </a:tr>
            </a:tbl>
          </a:graphicData>
        </a:graphic>
      </p:graphicFrame>
      <p:graphicFrame>
        <p:nvGraphicFramePr>
          <p:cNvPr id="25" name="Table 24">
            <a:extLst>
              <a:ext uri="{FF2B5EF4-FFF2-40B4-BE49-F238E27FC236}">
                <a16:creationId xmlns:a16="http://schemas.microsoft.com/office/drawing/2014/main" id="{0141105E-66A6-653F-0DD4-3A0FAE0C34F9}"/>
              </a:ext>
            </a:extLst>
          </p:cNvPr>
          <p:cNvGraphicFramePr>
            <a:graphicFrameLocks noGrp="1"/>
          </p:cNvGraphicFramePr>
          <p:nvPr>
            <p:extLst>
              <p:ext uri="{D42A27DB-BD31-4B8C-83A1-F6EECF244321}">
                <p14:modId xmlns:p14="http://schemas.microsoft.com/office/powerpoint/2010/main" val="1543177891"/>
              </p:ext>
            </p:extLst>
          </p:nvPr>
        </p:nvGraphicFramePr>
        <p:xfrm>
          <a:off x="527050" y="480854"/>
          <a:ext cx="8089900" cy="5760720"/>
        </p:xfrm>
        <a:graphic>
          <a:graphicData uri="http://schemas.openxmlformats.org/drawingml/2006/table">
            <a:tbl>
              <a:tblPr/>
              <a:tblGrid>
                <a:gridCol w="1685562">
                  <a:extLst>
                    <a:ext uri="{9D8B030D-6E8A-4147-A177-3AD203B41FA5}">
                      <a16:colId xmlns:a16="http://schemas.microsoft.com/office/drawing/2014/main" val="2155191729"/>
                    </a:ext>
                  </a:extLst>
                </a:gridCol>
                <a:gridCol w="2160375">
                  <a:extLst>
                    <a:ext uri="{9D8B030D-6E8A-4147-A177-3AD203B41FA5}">
                      <a16:colId xmlns:a16="http://schemas.microsoft.com/office/drawing/2014/main" val="2064825127"/>
                    </a:ext>
                  </a:extLst>
                </a:gridCol>
                <a:gridCol w="1567457">
                  <a:extLst>
                    <a:ext uri="{9D8B030D-6E8A-4147-A177-3AD203B41FA5}">
                      <a16:colId xmlns:a16="http://schemas.microsoft.com/office/drawing/2014/main" val="2941438258"/>
                    </a:ext>
                  </a:extLst>
                </a:gridCol>
                <a:gridCol w="1380151">
                  <a:extLst>
                    <a:ext uri="{9D8B030D-6E8A-4147-A177-3AD203B41FA5}">
                      <a16:colId xmlns:a16="http://schemas.microsoft.com/office/drawing/2014/main" val="3718074699"/>
                    </a:ext>
                  </a:extLst>
                </a:gridCol>
                <a:gridCol w="1296355">
                  <a:extLst>
                    <a:ext uri="{9D8B030D-6E8A-4147-A177-3AD203B41FA5}">
                      <a16:colId xmlns:a16="http://schemas.microsoft.com/office/drawing/2014/main" val="947718311"/>
                    </a:ext>
                  </a:extLst>
                </a:gridCol>
              </a:tblGrid>
              <a:tr h="0">
                <a:tc>
                  <a:txBody>
                    <a:bodyPr/>
                    <a:lstStyle/>
                    <a:p>
                      <a:r>
                        <a:rPr lang="en-IN" b="1" dirty="0"/>
                        <a:t>Function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Explanation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Syntax</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Example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Output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3094494"/>
                  </a:ext>
                </a:extLst>
              </a:tr>
              <a:tr h="0">
                <a:tc>
                  <a:txBody>
                    <a:bodyPr/>
                    <a:lstStyle/>
                    <a:p>
                      <a:r>
                        <a:rPr lang="en-IN" dirty="0"/>
                        <a:t>CONCAT()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Combines two or more strings into a single 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CONCAT(string1, string2,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SELECT CONCAT('Hello', ' ', 'World');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Hello World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06596"/>
                  </a:ext>
                </a:extLst>
              </a:tr>
              <a:tr h="0">
                <a:tc>
                  <a:txBody>
                    <a:bodyPr/>
                    <a:lstStyle/>
                    <a:p>
                      <a:r>
                        <a:rPr lang="en-IN" dirty="0"/>
                        <a:t>UPPER()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Converts all characters in a string to uppercase.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UPPER(string)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UPPER('hello');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HELLO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0609945"/>
                  </a:ext>
                </a:extLst>
              </a:tr>
              <a:tr h="0">
                <a:tc>
                  <a:txBody>
                    <a:bodyPr/>
                    <a:lstStyle/>
                    <a:p>
                      <a:r>
                        <a:rPr lang="en-IN" dirty="0"/>
                        <a:t>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Converts all characters in a string to lowercase.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LOWER(string)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SELECT LOWER('HELLO');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Hello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2128033"/>
                  </a:ext>
                </a:extLst>
              </a:tr>
              <a:tr h="0">
                <a:tc>
                  <a:txBody>
                    <a:bodyPr/>
                    <a:lstStyle/>
                    <a:p>
                      <a:r>
                        <a:rPr lang="en-IN" dirty="0"/>
                        <a:t>SUBSTRING()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Extracts a substring from a string, starting at a specified 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SUBSTRING(string, start, 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SELECT SUBSTRING('Hello World', 7,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World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8757446"/>
                  </a:ext>
                </a:extLst>
              </a:tr>
              <a:tr h="0">
                <a:tc>
                  <a:txBody>
                    <a:bodyPr/>
                    <a:lstStyle/>
                    <a:p>
                      <a:r>
                        <a:rPr lang="en-IN" dirty="0"/>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length of a string in bytes.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LENGTH(string)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LENGTH('MySQL');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785026"/>
                  </a:ext>
                </a:extLst>
              </a:tr>
            </a:tbl>
          </a:graphicData>
        </a:graphic>
      </p:graphicFrame>
    </p:spTree>
    <p:extLst>
      <p:ext uri="{BB962C8B-B14F-4D97-AF65-F5344CB8AC3E}">
        <p14:creationId xmlns:p14="http://schemas.microsoft.com/office/powerpoint/2010/main" val="698275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Table 33">
            <a:extLst>
              <a:ext uri="{FF2B5EF4-FFF2-40B4-BE49-F238E27FC236}">
                <a16:creationId xmlns:a16="http://schemas.microsoft.com/office/drawing/2014/main" id="{4978BB48-542A-A034-D66F-ACB6B1ED4704}"/>
              </a:ext>
            </a:extLst>
          </p:cNvPr>
          <p:cNvGraphicFramePr>
            <a:graphicFrameLocks noGrp="1"/>
          </p:cNvGraphicFramePr>
          <p:nvPr>
            <p:extLst>
              <p:ext uri="{D42A27DB-BD31-4B8C-83A1-F6EECF244321}">
                <p14:modId xmlns:p14="http://schemas.microsoft.com/office/powerpoint/2010/main" val="269695223"/>
              </p:ext>
            </p:extLst>
          </p:nvPr>
        </p:nvGraphicFramePr>
        <p:xfrm>
          <a:off x="522605" y="236514"/>
          <a:ext cx="8098790" cy="6035040"/>
        </p:xfrm>
        <a:graphic>
          <a:graphicData uri="http://schemas.openxmlformats.org/drawingml/2006/table">
            <a:tbl>
              <a:tblPr/>
              <a:tblGrid>
                <a:gridCol w="1619758">
                  <a:extLst>
                    <a:ext uri="{9D8B030D-6E8A-4147-A177-3AD203B41FA5}">
                      <a16:colId xmlns:a16="http://schemas.microsoft.com/office/drawing/2014/main" val="519569218"/>
                    </a:ext>
                  </a:extLst>
                </a:gridCol>
                <a:gridCol w="1619758">
                  <a:extLst>
                    <a:ext uri="{9D8B030D-6E8A-4147-A177-3AD203B41FA5}">
                      <a16:colId xmlns:a16="http://schemas.microsoft.com/office/drawing/2014/main" val="1177356719"/>
                    </a:ext>
                  </a:extLst>
                </a:gridCol>
                <a:gridCol w="1619758">
                  <a:extLst>
                    <a:ext uri="{9D8B030D-6E8A-4147-A177-3AD203B41FA5}">
                      <a16:colId xmlns:a16="http://schemas.microsoft.com/office/drawing/2014/main" val="1653062707"/>
                    </a:ext>
                  </a:extLst>
                </a:gridCol>
                <a:gridCol w="1619758">
                  <a:extLst>
                    <a:ext uri="{9D8B030D-6E8A-4147-A177-3AD203B41FA5}">
                      <a16:colId xmlns:a16="http://schemas.microsoft.com/office/drawing/2014/main" val="3983319127"/>
                    </a:ext>
                  </a:extLst>
                </a:gridCol>
                <a:gridCol w="1619758">
                  <a:extLst>
                    <a:ext uri="{9D8B030D-6E8A-4147-A177-3AD203B41FA5}">
                      <a16:colId xmlns:a16="http://schemas.microsoft.com/office/drawing/2014/main" val="1686930650"/>
                    </a:ext>
                  </a:extLst>
                </a:gridCol>
              </a:tblGrid>
              <a:tr h="0">
                <a:tc>
                  <a:txBody>
                    <a:bodyPr/>
                    <a:lstStyle/>
                    <a:p>
                      <a:r>
                        <a:rPr lang="en-IN" b="1" dirty="0"/>
                        <a:t>Function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Explanation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Syntax</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Example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Output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9770727"/>
                  </a:ext>
                </a:extLst>
              </a:tr>
              <a:tr h="0">
                <a:tc>
                  <a:txBody>
                    <a:bodyPr/>
                    <a:lstStyle/>
                    <a:p>
                      <a:r>
                        <a:rPr lang="en-IN" dirty="0"/>
                        <a:t>DATE_FORMAT()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Formats a date value according to a specified 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DATE_FORMAT(date, 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DATE_FORMAT('2025-01-27', '%d/%m/%Y');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27/01/2025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8241102"/>
                  </a:ext>
                </a:extLst>
              </a:tr>
              <a:tr h="0">
                <a:tc>
                  <a:txBody>
                    <a:bodyPr/>
                    <a:lstStyle/>
                    <a:p>
                      <a:r>
                        <a:rPr lang="en-IN" dirty="0"/>
                        <a:t>DATE_ADD()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Adds a time interval to a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DATE_ADD(date, INTERVAL value 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SELECT DATE_ADD('2025-01-27', INTERVAL 5 DAY);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2025-02-01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5086199"/>
                  </a:ext>
                </a:extLst>
              </a:tr>
              <a:tr h="0">
                <a:tc>
                  <a:txBody>
                    <a:bodyPr/>
                    <a:lstStyle/>
                    <a:p>
                      <a:r>
                        <a:rPr lang="en-IN" dirty="0"/>
                        <a:t>DATEDIFF()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number of days between two 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DATEDIFF(date1, date2)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DATEDIFF('2025-02-01', '2025-01-27');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1943505"/>
                  </a:ext>
                </a:extLst>
              </a:tr>
              <a:tr h="0">
                <a:tc>
                  <a:txBody>
                    <a:bodyPr/>
                    <a:lstStyle/>
                    <a:p>
                      <a:r>
                        <a:rPr lang="en-IN" dirty="0"/>
                        <a:t>CURDATE()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Returns the current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CURDATE()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CURDATE();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2025-01-27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3513643"/>
                  </a:ext>
                </a:extLst>
              </a:tr>
              <a:tr h="0">
                <a:tc>
                  <a:txBody>
                    <a:bodyPr/>
                    <a:lstStyle/>
                    <a:p>
                      <a:r>
                        <a:rPr lang="en-IN" dirty="0"/>
                        <a:t>NOW()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the current date and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NOW()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SELECT NOW();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2025-01-27 14:30:00 (example)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9572395"/>
                  </a:ext>
                </a:extLst>
              </a:tr>
            </a:tbl>
          </a:graphicData>
        </a:graphic>
      </p:graphicFrame>
    </p:spTree>
    <p:extLst>
      <p:ext uri="{BB962C8B-B14F-4D97-AF65-F5344CB8AC3E}">
        <p14:creationId xmlns:p14="http://schemas.microsoft.com/office/powerpoint/2010/main" val="200530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6EBDA9C8-FBCA-9B6F-6655-D8B228FD8919}"/>
              </a:ext>
            </a:extLst>
          </p:cNvPr>
          <p:cNvSpPr txBox="1"/>
          <p:nvPr/>
        </p:nvSpPr>
        <p:spPr>
          <a:xfrm>
            <a:off x="447040" y="387757"/>
            <a:ext cx="8138160" cy="1846659"/>
          </a:xfrm>
          <a:prstGeom prst="rect">
            <a:avLst/>
          </a:prstGeom>
          <a:noFill/>
        </p:spPr>
        <p:txBody>
          <a:bodyPr wrap="square">
            <a:spAutoFit/>
          </a:bodyPr>
          <a:lstStyle/>
          <a:p>
            <a:pPr algn="ctr"/>
            <a:r>
              <a:rPr lang="en-US" sz="2400" b="1" dirty="0">
                <a:solidFill>
                  <a:srgbClr val="FF0000"/>
                </a:solidFill>
                <a:highlight>
                  <a:srgbClr val="FFFF00"/>
                </a:highlight>
              </a:rPr>
              <a:t>Subqueries in MySQL</a:t>
            </a:r>
          </a:p>
          <a:p>
            <a:endParaRPr lang="en-US" dirty="0"/>
          </a:p>
          <a:p>
            <a:r>
              <a:rPr lang="en-US" dirty="0"/>
              <a:t>A subquery is a query nested within another query, used to perform operations that depend on the result of the outer query. </a:t>
            </a:r>
          </a:p>
          <a:p>
            <a:r>
              <a:rPr lang="en-US" dirty="0"/>
              <a:t>Subqueries can be placed in different parts of a query, such as the SELECT, FROM, or WHERE clause.</a:t>
            </a:r>
            <a:endParaRPr lang="en-IN" dirty="0"/>
          </a:p>
        </p:txBody>
      </p:sp>
      <p:graphicFrame>
        <p:nvGraphicFramePr>
          <p:cNvPr id="44" name="Table 43">
            <a:extLst>
              <a:ext uri="{FF2B5EF4-FFF2-40B4-BE49-F238E27FC236}">
                <a16:creationId xmlns:a16="http://schemas.microsoft.com/office/drawing/2014/main" id="{51198687-C16A-660D-0A70-DCEC345BC824}"/>
              </a:ext>
            </a:extLst>
          </p:cNvPr>
          <p:cNvGraphicFramePr>
            <a:graphicFrameLocks noGrp="1"/>
          </p:cNvGraphicFramePr>
          <p:nvPr>
            <p:extLst>
              <p:ext uri="{D42A27DB-BD31-4B8C-83A1-F6EECF244321}">
                <p14:modId xmlns:p14="http://schemas.microsoft.com/office/powerpoint/2010/main" val="2574091082"/>
              </p:ext>
            </p:extLst>
          </p:nvPr>
        </p:nvGraphicFramePr>
        <p:xfrm>
          <a:off x="455929" y="2234416"/>
          <a:ext cx="8232141" cy="3749040"/>
        </p:xfrm>
        <a:graphic>
          <a:graphicData uri="http://schemas.openxmlformats.org/drawingml/2006/table">
            <a:tbl>
              <a:tblPr/>
              <a:tblGrid>
                <a:gridCol w="1647190">
                  <a:extLst>
                    <a:ext uri="{9D8B030D-6E8A-4147-A177-3AD203B41FA5}">
                      <a16:colId xmlns:a16="http://schemas.microsoft.com/office/drawing/2014/main" val="772419638"/>
                    </a:ext>
                  </a:extLst>
                </a:gridCol>
                <a:gridCol w="2621280">
                  <a:extLst>
                    <a:ext uri="{9D8B030D-6E8A-4147-A177-3AD203B41FA5}">
                      <a16:colId xmlns:a16="http://schemas.microsoft.com/office/drawing/2014/main" val="877416571"/>
                    </a:ext>
                  </a:extLst>
                </a:gridCol>
                <a:gridCol w="3963671">
                  <a:extLst>
                    <a:ext uri="{9D8B030D-6E8A-4147-A177-3AD203B41FA5}">
                      <a16:colId xmlns:a16="http://schemas.microsoft.com/office/drawing/2014/main" val="3620949373"/>
                    </a:ext>
                  </a:extLst>
                </a:gridCol>
              </a:tblGrid>
              <a:tr h="0">
                <a:tc>
                  <a:txBody>
                    <a:bodyPr/>
                    <a:lstStyle/>
                    <a:p>
                      <a:r>
                        <a:rPr lang="en-IN" b="1" dirty="0"/>
                        <a:t>Type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Explanation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Example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508318"/>
                  </a:ext>
                </a:extLst>
              </a:tr>
              <a:tr h="0">
                <a:tc>
                  <a:txBody>
                    <a:bodyPr/>
                    <a:lstStyle/>
                    <a:p>
                      <a:r>
                        <a:rPr lang="en-IN" b="1" dirty="0"/>
                        <a:t>Single-row Subquery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only one row of results. Used with operators like =, &lt;, &gt;,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sql</a:t>
                      </a:r>
                      <a:r>
                        <a:rPr lang="en-US" dirty="0"/>
                        <a:t> SELECT name FROM employees WHERE salary &gt; (SELECT AVG(salary) FROM employees);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1526005"/>
                  </a:ext>
                </a:extLst>
              </a:tr>
              <a:tr h="0">
                <a:tc>
                  <a:txBody>
                    <a:bodyPr/>
                    <a:lstStyle/>
                    <a:p>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b="1" dirty="0"/>
                        <a:t>Give name of employees who’s salary is greater than average salary of all employees.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786111"/>
                  </a:ext>
                </a:extLst>
              </a:tr>
              <a:tr h="0">
                <a:tc>
                  <a:txBody>
                    <a:bodyPr/>
                    <a:lstStyle/>
                    <a:p>
                      <a:r>
                        <a:rPr lang="en-IN" b="1" dirty="0"/>
                        <a:t>Multi-row Subquery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Returns multiple rows of results. Used with operators like IN, ANY, ALL,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sql</a:t>
                      </a:r>
                      <a:r>
                        <a:rPr lang="en-US" dirty="0"/>
                        <a:t> SELECT name FROM employees WHERE </a:t>
                      </a:r>
                      <a:r>
                        <a:rPr lang="en-US" dirty="0" err="1"/>
                        <a:t>department_id</a:t>
                      </a:r>
                      <a:r>
                        <a:rPr lang="en-US" dirty="0"/>
                        <a:t> IN (SELECT id FROM departments WHERE location = 'NY');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946880"/>
                  </a:ext>
                </a:extLst>
              </a:tr>
              <a:tr h="0">
                <a:tc>
                  <a:txBody>
                    <a:bodyPr/>
                    <a:lstStyle/>
                    <a:p>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b="1" dirty="0"/>
                        <a:t>Find the names of employees who work in departments located in 'NY'.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949538"/>
                  </a:ext>
                </a:extLst>
              </a:tr>
            </a:tbl>
          </a:graphicData>
        </a:graphic>
      </p:graphicFrame>
    </p:spTree>
    <p:extLst>
      <p:ext uri="{BB962C8B-B14F-4D97-AF65-F5344CB8AC3E}">
        <p14:creationId xmlns:p14="http://schemas.microsoft.com/office/powerpoint/2010/main" val="40171783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9ACB0C1-116C-4804-D9BF-F5464615E5F0}"/>
              </a:ext>
            </a:extLst>
          </p:cNvPr>
          <p:cNvGraphicFramePr>
            <a:graphicFrameLocks noGrp="1"/>
          </p:cNvGraphicFramePr>
          <p:nvPr>
            <p:extLst>
              <p:ext uri="{D42A27DB-BD31-4B8C-83A1-F6EECF244321}">
                <p14:modId xmlns:p14="http://schemas.microsoft.com/office/powerpoint/2010/main" val="238204130"/>
              </p:ext>
            </p:extLst>
          </p:nvPr>
        </p:nvGraphicFramePr>
        <p:xfrm>
          <a:off x="455930" y="460534"/>
          <a:ext cx="8232141" cy="5486400"/>
        </p:xfrm>
        <a:graphic>
          <a:graphicData uri="http://schemas.openxmlformats.org/drawingml/2006/table">
            <a:tbl>
              <a:tblPr/>
              <a:tblGrid>
                <a:gridCol w="1647190">
                  <a:extLst>
                    <a:ext uri="{9D8B030D-6E8A-4147-A177-3AD203B41FA5}">
                      <a16:colId xmlns:a16="http://schemas.microsoft.com/office/drawing/2014/main" val="1133240064"/>
                    </a:ext>
                  </a:extLst>
                </a:gridCol>
                <a:gridCol w="2621280">
                  <a:extLst>
                    <a:ext uri="{9D8B030D-6E8A-4147-A177-3AD203B41FA5}">
                      <a16:colId xmlns:a16="http://schemas.microsoft.com/office/drawing/2014/main" val="256224594"/>
                    </a:ext>
                  </a:extLst>
                </a:gridCol>
                <a:gridCol w="3963671">
                  <a:extLst>
                    <a:ext uri="{9D8B030D-6E8A-4147-A177-3AD203B41FA5}">
                      <a16:colId xmlns:a16="http://schemas.microsoft.com/office/drawing/2014/main" val="579277736"/>
                    </a:ext>
                  </a:extLst>
                </a:gridCol>
              </a:tblGrid>
              <a:tr h="0">
                <a:tc>
                  <a:txBody>
                    <a:bodyPr/>
                    <a:lstStyle/>
                    <a:p>
                      <a:r>
                        <a:rPr lang="en-IN" b="1" dirty="0"/>
                        <a:t>Correlated Subquery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References columns from the outer query. Executed once for each row of the outer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sql</a:t>
                      </a:r>
                      <a:r>
                        <a:rPr lang="en-US" dirty="0"/>
                        <a:t> SELECT e.name FROM employees e WHERE </a:t>
                      </a:r>
                      <a:r>
                        <a:rPr lang="en-US" dirty="0" err="1"/>
                        <a:t>e.salary</a:t>
                      </a:r>
                      <a:r>
                        <a:rPr lang="en-US" dirty="0"/>
                        <a:t> &gt; (SELECT AVG(salary) FROM employees WHERE </a:t>
                      </a:r>
                      <a:r>
                        <a:rPr lang="en-US" dirty="0" err="1"/>
                        <a:t>department_id</a:t>
                      </a:r>
                      <a:r>
                        <a:rPr lang="en-US" dirty="0"/>
                        <a:t> = </a:t>
                      </a:r>
                      <a:r>
                        <a:rPr lang="en-US" dirty="0" err="1"/>
                        <a:t>e.department_id</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6752779"/>
                  </a:ext>
                </a:extLst>
              </a:tr>
              <a:tr h="0">
                <a:tc>
                  <a:txBody>
                    <a:bodyPr/>
                    <a:lstStyle/>
                    <a:p>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b="1" dirty="0"/>
                        <a:t>find the names of employees who earn more than the average salary of their respective departments.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8475964"/>
                  </a:ext>
                </a:extLst>
              </a:tr>
              <a:tr h="0">
                <a:tc>
                  <a:txBody>
                    <a:bodyPr/>
                    <a:lstStyle/>
                    <a:p>
                      <a:r>
                        <a:rPr lang="en-IN" b="1" dirty="0"/>
                        <a:t>Subquery in SELECT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Used to calculate a value for each row of the outer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sql</a:t>
                      </a:r>
                      <a:r>
                        <a:rPr lang="en-US" dirty="0"/>
                        <a:t> SELECT name, (SELECT COUNT(*) FROM projects WHERE </a:t>
                      </a:r>
                      <a:r>
                        <a:rPr lang="en-US" dirty="0" err="1"/>
                        <a:t>projects.employee_id</a:t>
                      </a:r>
                      <a:r>
                        <a:rPr lang="en-US" dirty="0"/>
                        <a:t> = employees.id) AS </a:t>
                      </a:r>
                      <a:r>
                        <a:rPr lang="en-US" dirty="0" err="1"/>
                        <a:t>project_count</a:t>
                      </a:r>
                      <a:r>
                        <a:rPr lang="en-US" dirty="0"/>
                        <a:t> FROM employees;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447749"/>
                  </a:ext>
                </a:extLst>
              </a:tr>
              <a:tr h="0">
                <a:tc>
                  <a:txBody>
                    <a:bodyPr/>
                    <a:lstStyle/>
                    <a:p>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b="1" dirty="0"/>
                        <a:t>retrieve the names of employees along with the number of projects they are associated with.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2920751"/>
                  </a:ext>
                </a:extLst>
              </a:tr>
              <a:tr h="0">
                <a:tc>
                  <a:txBody>
                    <a:bodyPr/>
                    <a:lstStyle/>
                    <a:p>
                      <a:r>
                        <a:rPr lang="en-IN" b="1" dirty="0"/>
                        <a:t>Subquery in FROM</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Acts as a temporary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sql</a:t>
                      </a:r>
                      <a:r>
                        <a:rPr lang="en-US" dirty="0"/>
                        <a:t> SELECT </a:t>
                      </a:r>
                      <a:r>
                        <a:rPr lang="en-US" dirty="0" err="1"/>
                        <a:t>avg_salary</a:t>
                      </a:r>
                      <a:r>
                        <a:rPr lang="en-US" dirty="0"/>
                        <a:t> FROM (SELECT </a:t>
                      </a:r>
                      <a:r>
                        <a:rPr lang="en-US" dirty="0" err="1"/>
                        <a:t>department_id</a:t>
                      </a:r>
                      <a:r>
                        <a:rPr lang="en-US" dirty="0"/>
                        <a:t>, AVG(salary) AS </a:t>
                      </a:r>
                      <a:r>
                        <a:rPr lang="en-US" dirty="0" err="1"/>
                        <a:t>avg_salary</a:t>
                      </a:r>
                      <a:r>
                        <a:rPr lang="en-US" dirty="0"/>
                        <a:t> FROM employees GROUP BY </a:t>
                      </a:r>
                      <a:r>
                        <a:rPr lang="en-US" dirty="0" err="1"/>
                        <a:t>department_id</a:t>
                      </a:r>
                      <a:r>
                        <a:rPr lang="en-US" dirty="0"/>
                        <a:t>) AS </a:t>
                      </a:r>
                      <a:r>
                        <a:rPr lang="en-US" dirty="0" err="1"/>
                        <a:t>dept_avg</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268599"/>
                  </a:ext>
                </a:extLst>
              </a:tr>
              <a:tr h="0">
                <a:tc>
                  <a:txBody>
                    <a:bodyPr/>
                    <a:lstStyle/>
                    <a:p>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b="1" dirty="0"/>
                        <a:t>calculate the average salary for each department and display only the average salaries.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2584454"/>
                  </a:ext>
                </a:extLst>
              </a:tr>
            </a:tbl>
          </a:graphicData>
        </a:graphic>
      </p:graphicFrame>
      <p:graphicFrame>
        <p:nvGraphicFramePr>
          <p:cNvPr id="3" name="Table 2">
            <a:extLst>
              <a:ext uri="{FF2B5EF4-FFF2-40B4-BE49-F238E27FC236}">
                <a16:creationId xmlns:a16="http://schemas.microsoft.com/office/drawing/2014/main" id="{B730DC85-D2AB-3CAE-741F-BE0240ADC14F}"/>
              </a:ext>
            </a:extLst>
          </p:cNvPr>
          <p:cNvGraphicFramePr>
            <a:graphicFrameLocks noGrp="1"/>
          </p:cNvGraphicFramePr>
          <p:nvPr>
            <p:extLst>
              <p:ext uri="{D42A27DB-BD31-4B8C-83A1-F6EECF244321}">
                <p14:modId xmlns:p14="http://schemas.microsoft.com/office/powerpoint/2010/main" val="2715129919"/>
              </p:ext>
            </p:extLst>
          </p:nvPr>
        </p:nvGraphicFramePr>
        <p:xfrm>
          <a:off x="628650" y="-464820"/>
          <a:ext cx="7886700" cy="365760"/>
        </p:xfrm>
        <a:graphic>
          <a:graphicData uri="http://schemas.openxmlformats.org/drawingml/2006/table">
            <a:tbl>
              <a:tblPr/>
              <a:tblGrid>
                <a:gridCol w="2628900">
                  <a:extLst>
                    <a:ext uri="{9D8B030D-6E8A-4147-A177-3AD203B41FA5}">
                      <a16:colId xmlns:a16="http://schemas.microsoft.com/office/drawing/2014/main" val="2221716039"/>
                    </a:ext>
                  </a:extLst>
                </a:gridCol>
                <a:gridCol w="2628900">
                  <a:extLst>
                    <a:ext uri="{9D8B030D-6E8A-4147-A177-3AD203B41FA5}">
                      <a16:colId xmlns:a16="http://schemas.microsoft.com/office/drawing/2014/main" val="1776266053"/>
                    </a:ext>
                  </a:extLst>
                </a:gridCol>
                <a:gridCol w="2628900">
                  <a:extLst>
                    <a:ext uri="{9D8B030D-6E8A-4147-A177-3AD203B41FA5}">
                      <a16:colId xmlns:a16="http://schemas.microsoft.com/office/drawing/2014/main" val="2650964680"/>
                    </a:ext>
                  </a:extLst>
                </a:gridCol>
              </a:tblGrid>
              <a:tr h="0">
                <a:tc>
                  <a:txBody>
                    <a:bodyPr/>
                    <a:lstStyle/>
                    <a:p>
                      <a:endParaRPr lang="en-IN"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1177041512"/>
                  </a:ext>
                </a:extLst>
              </a:tr>
            </a:tbl>
          </a:graphicData>
        </a:graphic>
      </p:graphicFrame>
    </p:spTree>
    <p:extLst>
      <p:ext uri="{BB962C8B-B14F-4D97-AF65-F5344CB8AC3E}">
        <p14:creationId xmlns:p14="http://schemas.microsoft.com/office/powerpoint/2010/main" val="4070231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07DBFB-4D99-F653-0922-FAF69FDFF80E}"/>
              </a:ext>
            </a:extLst>
          </p:cNvPr>
          <p:cNvSpPr txBox="1"/>
          <p:nvPr/>
        </p:nvSpPr>
        <p:spPr>
          <a:xfrm>
            <a:off x="426720" y="294144"/>
            <a:ext cx="8351520" cy="6247864"/>
          </a:xfrm>
          <a:prstGeom prst="rect">
            <a:avLst/>
          </a:prstGeom>
          <a:noFill/>
        </p:spPr>
        <p:txBody>
          <a:bodyPr wrap="square">
            <a:spAutoFit/>
          </a:bodyPr>
          <a:lstStyle/>
          <a:p>
            <a:pPr algn="ctr"/>
            <a:r>
              <a:rPr lang="en-US" sz="2000" b="1" dirty="0"/>
              <a:t>Practice Questions</a:t>
            </a:r>
          </a:p>
          <a:p>
            <a:pPr algn="ctr"/>
            <a:endParaRPr lang="en-US" sz="2000" b="1" dirty="0"/>
          </a:p>
          <a:p>
            <a:pPr marL="342900" indent="-342900">
              <a:buFont typeface="Arial" panose="020B0604020202020204" pitchFamily="34" charset="0"/>
              <a:buChar char="•"/>
            </a:pPr>
            <a:r>
              <a:rPr lang="en-US" sz="2000" b="1" dirty="0"/>
              <a:t>Find employees earning more than the average salary:</a:t>
            </a:r>
          </a:p>
          <a:p>
            <a:pPr marL="342900" indent="-342900">
              <a:buFont typeface="Arial" panose="020B0604020202020204" pitchFamily="34" charset="0"/>
              <a:buChar char="•"/>
            </a:pPr>
            <a:r>
              <a:rPr lang="en-US" sz="2000" dirty="0"/>
              <a:t>SELECT name, </a:t>
            </a:r>
            <a:r>
              <a:rPr lang="en-US" sz="2000" dirty="0" err="1"/>
              <a:t>salaryFROM</a:t>
            </a:r>
            <a:r>
              <a:rPr lang="en-US" sz="2000" dirty="0"/>
              <a:t> </a:t>
            </a:r>
            <a:r>
              <a:rPr lang="en-US" sz="2000" dirty="0" err="1"/>
              <a:t>employeesWHERE</a:t>
            </a:r>
            <a:r>
              <a:rPr lang="en-US" sz="2000" dirty="0"/>
              <a:t> salary &gt; (SELECT AVG(salary) FROM employees);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List all departments with more than 5 employees:</a:t>
            </a:r>
          </a:p>
          <a:p>
            <a:pPr marL="342900" indent="-342900">
              <a:buFont typeface="Arial" panose="020B0604020202020204" pitchFamily="34" charset="0"/>
              <a:buChar char="•"/>
            </a:pPr>
            <a:r>
              <a:rPr lang="en-US" sz="2000" dirty="0"/>
              <a:t>SELECT </a:t>
            </a:r>
            <a:r>
              <a:rPr lang="en-US" sz="2000" dirty="0" err="1"/>
              <a:t>department_nameFROM</a:t>
            </a:r>
            <a:r>
              <a:rPr lang="en-US" sz="2000" dirty="0"/>
              <a:t> </a:t>
            </a:r>
            <a:r>
              <a:rPr lang="en-US" sz="2000" dirty="0" err="1"/>
              <a:t>departmentsWHERE</a:t>
            </a:r>
            <a:r>
              <a:rPr lang="en-US" sz="2000" dirty="0"/>
              <a:t> id IN (SELECT </a:t>
            </a:r>
            <a:r>
              <a:rPr lang="en-US" sz="2000" dirty="0" err="1"/>
              <a:t>department_id</a:t>
            </a:r>
            <a:r>
              <a:rPr lang="en-US" sz="2000" dirty="0"/>
              <a:t> FROM employees GROUP BY </a:t>
            </a:r>
            <a:r>
              <a:rPr lang="en-US" sz="2000" dirty="0" err="1"/>
              <a:t>department_id</a:t>
            </a:r>
            <a:r>
              <a:rPr lang="en-US" sz="2000" dirty="0"/>
              <a:t> HAVING COUNT(*) &gt; 5);</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Get the top salary in each department using correlated subquery:</a:t>
            </a:r>
          </a:p>
          <a:p>
            <a:pPr marL="342900" indent="-342900">
              <a:buFont typeface="Arial" panose="020B0604020202020204" pitchFamily="34" charset="0"/>
              <a:buChar char="•"/>
            </a:pPr>
            <a:r>
              <a:rPr lang="en-US" sz="2000" dirty="0"/>
              <a:t>SELECT e.name, </a:t>
            </a:r>
            <a:r>
              <a:rPr lang="en-US" sz="2000" dirty="0" err="1"/>
              <a:t>e.salary</a:t>
            </a:r>
            <a:r>
              <a:rPr lang="en-US" sz="2000" dirty="0"/>
              <a:t>, </a:t>
            </a:r>
            <a:r>
              <a:rPr lang="en-US" sz="2000" dirty="0" err="1"/>
              <a:t>e.department_idFROM</a:t>
            </a:r>
            <a:r>
              <a:rPr lang="en-US" sz="2000" dirty="0"/>
              <a:t> employees </a:t>
            </a:r>
            <a:r>
              <a:rPr lang="en-US" sz="2000" dirty="0" err="1"/>
              <a:t>eWHERE</a:t>
            </a:r>
            <a:r>
              <a:rPr lang="en-US" sz="2000" dirty="0"/>
              <a:t> </a:t>
            </a:r>
            <a:r>
              <a:rPr lang="en-US" sz="2000" dirty="0" err="1"/>
              <a:t>e.salary</a:t>
            </a:r>
            <a:r>
              <a:rPr lang="en-US" sz="2000" dirty="0"/>
              <a:t> = (SELECT MAX(salary) FROM employees WHERE </a:t>
            </a:r>
            <a:r>
              <a:rPr lang="en-US" sz="2000" dirty="0" err="1"/>
              <a:t>department_id</a:t>
            </a:r>
            <a:r>
              <a:rPr lang="en-US" sz="2000" dirty="0"/>
              <a:t> = </a:t>
            </a:r>
            <a:r>
              <a:rPr lang="en-US" sz="2000" dirty="0" err="1"/>
              <a:t>e.department_id</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Using a subquery as a temporary table in FROM:</a:t>
            </a:r>
          </a:p>
          <a:p>
            <a:pPr marL="342900" indent="-342900">
              <a:buFont typeface="Arial" panose="020B0604020202020204" pitchFamily="34" charset="0"/>
              <a:buChar char="•"/>
            </a:pPr>
            <a:r>
              <a:rPr lang="en-US" sz="2000" dirty="0"/>
              <a:t>SELECT </a:t>
            </a:r>
            <a:r>
              <a:rPr lang="en-US" sz="2000" dirty="0" err="1"/>
              <a:t>department_id</a:t>
            </a:r>
            <a:r>
              <a:rPr lang="en-US" sz="2000" dirty="0"/>
              <a:t>, </a:t>
            </a:r>
            <a:r>
              <a:rPr lang="en-US" sz="2000" dirty="0" err="1"/>
              <a:t>avg_salaryFROM</a:t>
            </a:r>
            <a:r>
              <a:rPr lang="en-US" sz="2000" dirty="0"/>
              <a:t> (SELECT </a:t>
            </a:r>
            <a:r>
              <a:rPr lang="en-US" sz="2000" dirty="0" err="1"/>
              <a:t>department_id</a:t>
            </a:r>
            <a:r>
              <a:rPr lang="en-US" sz="2000" dirty="0"/>
              <a:t>, AVG(salary) AS </a:t>
            </a:r>
            <a:r>
              <a:rPr lang="en-US" sz="2000" dirty="0" err="1"/>
              <a:t>avg_salary</a:t>
            </a:r>
            <a:r>
              <a:rPr lang="en-US" sz="2000" dirty="0"/>
              <a:t> FROM employees GROUP BY </a:t>
            </a:r>
            <a:r>
              <a:rPr lang="en-US" sz="2000" dirty="0" err="1"/>
              <a:t>department_id</a:t>
            </a:r>
            <a:r>
              <a:rPr lang="en-US" sz="2000" dirty="0"/>
              <a:t>) AS </a:t>
            </a:r>
            <a:r>
              <a:rPr lang="en-US" sz="2000" dirty="0" err="1"/>
              <a:t>dept_avgWHERE</a:t>
            </a:r>
            <a:r>
              <a:rPr lang="en-US" sz="2000" dirty="0"/>
              <a:t> </a:t>
            </a:r>
            <a:r>
              <a:rPr lang="en-US" sz="2000" dirty="0" err="1"/>
              <a:t>avg_salary</a:t>
            </a:r>
            <a:r>
              <a:rPr lang="en-US" sz="2000" dirty="0"/>
              <a:t> &gt; 50000;</a:t>
            </a:r>
            <a:endParaRPr lang="en-IN" sz="2000" dirty="0"/>
          </a:p>
        </p:txBody>
      </p:sp>
    </p:spTree>
    <p:extLst>
      <p:ext uri="{BB962C8B-B14F-4D97-AF65-F5344CB8AC3E}">
        <p14:creationId xmlns:p14="http://schemas.microsoft.com/office/powerpoint/2010/main" val="2619441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7961D0-C6BC-097A-F14F-23B3CB2264B1}"/>
              </a:ext>
            </a:extLst>
          </p:cNvPr>
          <p:cNvSpPr txBox="1"/>
          <p:nvPr/>
        </p:nvSpPr>
        <p:spPr>
          <a:xfrm>
            <a:off x="487680" y="318254"/>
            <a:ext cx="8209280" cy="954107"/>
          </a:xfrm>
          <a:prstGeom prst="rect">
            <a:avLst/>
          </a:prstGeom>
          <a:noFill/>
        </p:spPr>
        <p:txBody>
          <a:bodyPr wrap="square">
            <a:spAutoFit/>
          </a:bodyPr>
          <a:lstStyle/>
          <a:p>
            <a:pPr algn="ctr"/>
            <a:r>
              <a:rPr lang="en-US" sz="2000" b="1" dirty="0">
                <a:solidFill>
                  <a:srgbClr val="FF0000"/>
                </a:solidFill>
                <a:highlight>
                  <a:srgbClr val="FFFF00"/>
                </a:highlight>
              </a:rPr>
              <a:t>Use of group by, having, order by</a:t>
            </a:r>
          </a:p>
          <a:p>
            <a:endParaRPr lang="en-US" dirty="0"/>
          </a:p>
          <a:p>
            <a:r>
              <a:rPr lang="en-US" dirty="0"/>
              <a:t> These clauses are essential for organizing and filtering aggregated data in a query.</a:t>
            </a:r>
            <a:endParaRPr lang="en-IN" dirty="0"/>
          </a:p>
        </p:txBody>
      </p:sp>
      <p:graphicFrame>
        <p:nvGraphicFramePr>
          <p:cNvPr id="4" name="Table 3">
            <a:extLst>
              <a:ext uri="{FF2B5EF4-FFF2-40B4-BE49-F238E27FC236}">
                <a16:creationId xmlns:a16="http://schemas.microsoft.com/office/drawing/2014/main" id="{8C3B7ED0-436C-9983-F13D-5B7767C1F7FF}"/>
              </a:ext>
            </a:extLst>
          </p:cNvPr>
          <p:cNvGraphicFramePr>
            <a:graphicFrameLocks noGrp="1"/>
          </p:cNvGraphicFramePr>
          <p:nvPr>
            <p:extLst>
              <p:ext uri="{D42A27DB-BD31-4B8C-83A1-F6EECF244321}">
                <p14:modId xmlns:p14="http://schemas.microsoft.com/office/powerpoint/2010/main" val="1904021901"/>
              </p:ext>
            </p:extLst>
          </p:nvPr>
        </p:nvGraphicFramePr>
        <p:xfrm>
          <a:off x="487680" y="1639094"/>
          <a:ext cx="8209280" cy="4467066"/>
        </p:xfrm>
        <a:graphic>
          <a:graphicData uri="http://schemas.openxmlformats.org/drawingml/2006/table">
            <a:tbl>
              <a:tblPr/>
              <a:tblGrid>
                <a:gridCol w="2178566">
                  <a:extLst>
                    <a:ext uri="{9D8B030D-6E8A-4147-A177-3AD203B41FA5}">
                      <a16:colId xmlns:a16="http://schemas.microsoft.com/office/drawing/2014/main" val="1164502879"/>
                    </a:ext>
                  </a:extLst>
                </a:gridCol>
                <a:gridCol w="2940006">
                  <a:extLst>
                    <a:ext uri="{9D8B030D-6E8A-4147-A177-3AD203B41FA5}">
                      <a16:colId xmlns:a16="http://schemas.microsoft.com/office/drawing/2014/main" val="3124996951"/>
                    </a:ext>
                  </a:extLst>
                </a:gridCol>
                <a:gridCol w="3090708">
                  <a:extLst>
                    <a:ext uri="{9D8B030D-6E8A-4147-A177-3AD203B41FA5}">
                      <a16:colId xmlns:a16="http://schemas.microsoft.com/office/drawing/2014/main" val="1050161377"/>
                    </a:ext>
                  </a:extLst>
                </a:gridCol>
              </a:tblGrid>
              <a:tr h="446707">
                <a:tc>
                  <a:txBody>
                    <a:bodyPr/>
                    <a:lstStyle/>
                    <a:p>
                      <a:r>
                        <a:rPr lang="en-IN" b="1"/>
                        <a:t>Clause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Purpose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t>Key Notes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12611"/>
                  </a:ext>
                </a:extLst>
              </a:tr>
              <a:tr h="1116767">
                <a:tc>
                  <a:txBody>
                    <a:bodyPr/>
                    <a:lstStyle/>
                    <a:p>
                      <a:r>
                        <a:rPr lang="en-IN" b="1" dirty="0"/>
                        <a:t>HAVING</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Filters the grouped data (acts like WHERE for aggregated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Used after GROUP BY.</a:t>
                      </a:r>
                      <a:br>
                        <a:rPr lang="en-US" dirty="0"/>
                      </a:br>
                      <a:r>
                        <a:rPr lang="en-US" dirty="0"/>
                        <a:t>- Can include aggregate functions (unlike WHERE).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1205342"/>
                  </a:ext>
                </a:extLst>
              </a:tr>
              <a:tr h="1451796">
                <a:tc>
                  <a:txBody>
                    <a:bodyPr/>
                    <a:lstStyle/>
                    <a:p>
                      <a:r>
                        <a:rPr lang="en-IN" b="1" dirty="0"/>
                        <a:t>GROUP BY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Groups rows that have the same values into summary rows, such as calculating aggregates (e.g., SUM, AVG).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Used with aggregate functions.</a:t>
                      </a:r>
                      <a:br>
                        <a:rPr lang="en-US" dirty="0"/>
                      </a:br>
                      <a:r>
                        <a:rPr lang="en-US" dirty="0"/>
                        <a:t>- Must appear after FROM and before ORDER BY.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4989728"/>
                  </a:ext>
                </a:extLst>
              </a:tr>
              <a:tr h="1451796">
                <a:tc>
                  <a:txBody>
                    <a:bodyPr/>
                    <a:lstStyle/>
                    <a:p>
                      <a:r>
                        <a:rPr lang="en-IN" b="1" dirty="0"/>
                        <a:t>ORDER BY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Sorts the results in ascending (ASC) or descending (DESC) 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Applied to grouped or ungrouped data.</a:t>
                      </a:r>
                      <a:br>
                        <a:rPr lang="en-US" dirty="0"/>
                      </a:br>
                      <a:r>
                        <a:rPr lang="en-US" dirty="0"/>
                        <a:t>- Appears after GROUP BY and HAVING.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4576492"/>
                  </a:ext>
                </a:extLst>
              </a:tr>
            </a:tbl>
          </a:graphicData>
        </a:graphic>
      </p:graphicFrame>
    </p:spTree>
    <p:extLst>
      <p:ext uri="{BB962C8B-B14F-4D97-AF65-F5344CB8AC3E}">
        <p14:creationId xmlns:p14="http://schemas.microsoft.com/office/powerpoint/2010/main" val="406895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B8D131-19C9-8685-0415-81741D883B19}"/>
              </a:ext>
            </a:extLst>
          </p:cNvPr>
          <p:cNvSpPr txBox="1"/>
          <p:nvPr/>
        </p:nvSpPr>
        <p:spPr>
          <a:xfrm>
            <a:off x="650240" y="593636"/>
            <a:ext cx="7193280" cy="3913059"/>
          </a:xfrm>
          <a:prstGeom prst="rect">
            <a:avLst/>
          </a:prstGeom>
          <a:noFill/>
        </p:spPr>
        <p:txBody>
          <a:bodyPr wrap="square">
            <a:spAutoFit/>
          </a:bodyPr>
          <a:lstStyle/>
          <a:p>
            <a:pPr>
              <a:lnSpc>
                <a:spcPct val="150000"/>
              </a:lnSpc>
            </a:pPr>
            <a:r>
              <a:rPr lang="en-US" sz="2400" dirty="0">
                <a:highlight>
                  <a:srgbClr val="FFFF00"/>
                </a:highlight>
              </a:rPr>
              <a:t>Syntax</a:t>
            </a:r>
            <a:r>
              <a:rPr lang="en-US" sz="2400" dirty="0"/>
              <a:t>:</a:t>
            </a:r>
          </a:p>
          <a:p>
            <a:pPr>
              <a:lnSpc>
                <a:spcPct val="150000"/>
              </a:lnSpc>
            </a:pPr>
            <a:r>
              <a:rPr lang="en-US" sz="2400" dirty="0"/>
              <a:t>SELECT column1, </a:t>
            </a:r>
            <a:r>
              <a:rPr lang="en-US" sz="2400" dirty="0" err="1"/>
              <a:t>aggregate_function</a:t>
            </a:r>
            <a:r>
              <a:rPr lang="en-US" sz="2400" dirty="0"/>
              <a:t>(column2) </a:t>
            </a:r>
          </a:p>
          <a:p>
            <a:pPr>
              <a:lnSpc>
                <a:spcPct val="150000"/>
              </a:lnSpc>
            </a:pPr>
            <a:r>
              <a:rPr lang="en-US" sz="2400" dirty="0"/>
              <a:t>FROM table </a:t>
            </a:r>
          </a:p>
          <a:p>
            <a:pPr>
              <a:lnSpc>
                <a:spcPct val="150000"/>
              </a:lnSpc>
            </a:pPr>
            <a:r>
              <a:rPr lang="en-US" sz="2400" dirty="0"/>
              <a:t>WHERE condition </a:t>
            </a:r>
          </a:p>
          <a:p>
            <a:pPr>
              <a:lnSpc>
                <a:spcPct val="150000"/>
              </a:lnSpc>
            </a:pPr>
            <a:r>
              <a:rPr lang="en-US" sz="2400" dirty="0"/>
              <a:t>GROUP BY column1 </a:t>
            </a:r>
          </a:p>
          <a:p>
            <a:pPr>
              <a:lnSpc>
                <a:spcPct val="150000"/>
              </a:lnSpc>
            </a:pPr>
            <a:r>
              <a:rPr lang="en-US" sz="2400" dirty="0"/>
              <a:t>HAVING condition </a:t>
            </a:r>
          </a:p>
          <a:p>
            <a:pPr>
              <a:lnSpc>
                <a:spcPct val="150000"/>
              </a:lnSpc>
            </a:pPr>
            <a:r>
              <a:rPr lang="en-US" sz="2400" dirty="0"/>
              <a:t>ORDER BY column1 [ASC|DESC];</a:t>
            </a:r>
            <a:endParaRPr lang="en-IN" sz="2400" dirty="0"/>
          </a:p>
        </p:txBody>
      </p:sp>
    </p:spTree>
    <p:extLst>
      <p:ext uri="{BB962C8B-B14F-4D97-AF65-F5344CB8AC3E}">
        <p14:creationId xmlns:p14="http://schemas.microsoft.com/office/powerpoint/2010/main" val="3220659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F1B481-AA21-63E2-8E04-7CE417B7EF70}"/>
              </a:ext>
            </a:extLst>
          </p:cNvPr>
          <p:cNvSpPr txBox="1"/>
          <p:nvPr/>
        </p:nvSpPr>
        <p:spPr>
          <a:xfrm>
            <a:off x="568960" y="546576"/>
            <a:ext cx="7914640" cy="4524315"/>
          </a:xfrm>
          <a:prstGeom prst="rect">
            <a:avLst/>
          </a:prstGeom>
          <a:noFill/>
        </p:spPr>
        <p:txBody>
          <a:bodyPr wrap="square">
            <a:spAutoFit/>
          </a:bodyPr>
          <a:lstStyle/>
          <a:p>
            <a:r>
              <a:rPr lang="en-US" dirty="0">
                <a:highlight>
                  <a:srgbClr val="FFFF00"/>
                </a:highlight>
              </a:rPr>
              <a:t>Using GROUP BY:</a:t>
            </a:r>
          </a:p>
          <a:p>
            <a:endParaRPr lang="en-US" dirty="0"/>
          </a:p>
          <a:p>
            <a:r>
              <a:rPr lang="en-US" dirty="0"/>
              <a:t>Question: Find the total salary for each department.</a:t>
            </a:r>
          </a:p>
          <a:p>
            <a:endParaRPr lang="en-US" dirty="0"/>
          </a:p>
          <a:p>
            <a:r>
              <a:rPr lang="en-US" dirty="0"/>
              <a:t>SELECT </a:t>
            </a:r>
            <a:r>
              <a:rPr lang="en-US" dirty="0" err="1"/>
              <a:t>department_id</a:t>
            </a:r>
            <a:r>
              <a:rPr lang="en-US" dirty="0"/>
              <a:t>, SUM(salary) AS </a:t>
            </a:r>
            <a:r>
              <a:rPr lang="en-US" dirty="0" err="1"/>
              <a:t>total_salary</a:t>
            </a:r>
            <a:endParaRPr lang="en-US" dirty="0"/>
          </a:p>
          <a:p>
            <a:r>
              <a:rPr lang="en-US" dirty="0"/>
              <a:t>FROM employees</a:t>
            </a:r>
          </a:p>
          <a:p>
            <a:r>
              <a:rPr lang="en-US" dirty="0"/>
              <a:t>GROUP BY </a:t>
            </a:r>
            <a:r>
              <a:rPr lang="en-US" dirty="0" err="1"/>
              <a:t>department_id</a:t>
            </a:r>
            <a:r>
              <a:rPr lang="en-US" dirty="0"/>
              <a:t>;</a:t>
            </a:r>
          </a:p>
          <a:p>
            <a:endParaRPr lang="en-US" dirty="0"/>
          </a:p>
          <a:p>
            <a:r>
              <a:rPr lang="en-US" dirty="0">
                <a:highlight>
                  <a:srgbClr val="FFFF00"/>
                </a:highlight>
              </a:rPr>
              <a:t>Using HAVING:</a:t>
            </a:r>
          </a:p>
          <a:p>
            <a:endParaRPr lang="en-US" dirty="0"/>
          </a:p>
          <a:p>
            <a:r>
              <a:rPr lang="en-US" dirty="0"/>
              <a:t>Question: Find departments where the total salary exceeds 50,000.</a:t>
            </a:r>
          </a:p>
          <a:p>
            <a:endParaRPr lang="en-US" dirty="0"/>
          </a:p>
          <a:p>
            <a:r>
              <a:rPr lang="en-US" dirty="0"/>
              <a:t>SELECT </a:t>
            </a:r>
            <a:r>
              <a:rPr lang="en-US" dirty="0" err="1"/>
              <a:t>department_id</a:t>
            </a:r>
            <a:r>
              <a:rPr lang="en-US" dirty="0"/>
              <a:t>, SUM(salary) AS </a:t>
            </a:r>
            <a:r>
              <a:rPr lang="en-US" dirty="0" err="1"/>
              <a:t>total_salary</a:t>
            </a:r>
            <a:endParaRPr lang="en-US" dirty="0"/>
          </a:p>
          <a:p>
            <a:r>
              <a:rPr lang="en-US" dirty="0"/>
              <a:t>FROM employees</a:t>
            </a:r>
          </a:p>
          <a:p>
            <a:r>
              <a:rPr lang="en-US" dirty="0"/>
              <a:t>GROUP BY </a:t>
            </a:r>
            <a:r>
              <a:rPr lang="en-US" dirty="0" err="1"/>
              <a:t>department_id</a:t>
            </a:r>
            <a:endParaRPr lang="en-US" dirty="0"/>
          </a:p>
          <a:p>
            <a:r>
              <a:rPr lang="en-US" dirty="0"/>
              <a:t>HAVING SUM(salary) &gt; 50000;</a:t>
            </a:r>
            <a:endParaRPr lang="en-IN" dirty="0"/>
          </a:p>
        </p:txBody>
      </p:sp>
    </p:spTree>
    <p:extLst>
      <p:ext uri="{BB962C8B-B14F-4D97-AF65-F5344CB8AC3E}">
        <p14:creationId xmlns:p14="http://schemas.microsoft.com/office/powerpoint/2010/main" val="11843068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E538F9-FB21-3E76-759C-236785526751}"/>
              </a:ext>
            </a:extLst>
          </p:cNvPr>
          <p:cNvSpPr txBox="1"/>
          <p:nvPr/>
        </p:nvSpPr>
        <p:spPr>
          <a:xfrm>
            <a:off x="355600" y="339636"/>
            <a:ext cx="8371840" cy="4801314"/>
          </a:xfrm>
          <a:prstGeom prst="rect">
            <a:avLst/>
          </a:prstGeom>
          <a:noFill/>
        </p:spPr>
        <p:txBody>
          <a:bodyPr wrap="square">
            <a:spAutoFit/>
          </a:bodyPr>
          <a:lstStyle/>
          <a:p>
            <a:r>
              <a:rPr lang="en-US" dirty="0">
                <a:highlight>
                  <a:srgbClr val="FFFF00"/>
                </a:highlight>
              </a:rPr>
              <a:t>Using ORDER BY:</a:t>
            </a:r>
          </a:p>
          <a:p>
            <a:r>
              <a:rPr lang="en-US" dirty="0"/>
              <a:t>Question: Display employees' names and salaries in descending order of salary</a:t>
            </a:r>
          </a:p>
          <a:p>
            <a:endParaRPr lang="en-US" dirty="0"/>
          </a:p>
          <a:p>
            <a:r>
              <a:rPr lang="en-US" dirty="0"/>
              <a:t>SELECT name, salary</a:t>
            </a:r>
          </a:p>
          <a:p>
            <a:r>
              <a:rPr lang="en-US" dirty="0"/>
              <a:t>FROM employees</a:t>
            </a:r>
          </a:p>
          <a:p>
            <a:r>
              <a:rPr lang="en-US" dirty="0"/>
              <a:t>ORDER BY salary DESC;</a:t>
            </a:r>
          </a:p>
          <a:p>
            <a:endParaRPr lang="en-US" dirty="0"/>
          </a:p>
          <a:p>
            <a:r>
              <a:rPr lang="en-US" dirty="0">
                <a:highlight>
                  <a:srgbClr val="FFFF00"/>
                </a:highlight>
              </a:rPr>
              <a:t>Combining GROUP BY, HAVING, and ORDER BY:</a:t>
            </a:r>
          </a:p>
          <a:p>
            <a:endParaRPr lang="en-US" dirty="0"/>
          </a:p>
          <a:p>
            <a:r>
              <a:rPr lang="en-US" dirty="0"/>
              <a:t>Question: Find departments with more than 5 employees, sorted by total salary in descending order.</a:t>
            </a:r>
          </a:p>
          <a:p>
            <a:endParaRPr lang="en-US" dirty="0"/>
          </a:p>
          <a:p>
            <a:r>
              <a:rPr lang="en-US" dirty="0"/>
              <a:t>SELECT </a:t>
            </a:r>
            <a:r>
              <a:rPr lang="en-US" dirty="0" err="1"/>
              <a:t>department_id</a:t>
            </a:r>
            <a:r>
              <a:rPr lang="en-US" dirty="0"/>
              <a:t>, COUNT(*) AS </a:t>
            </a:r>
            <a:r>
              <a:rPr lang="en-US" dirty="0" err="1"/>
              <a:t>employee_count</a:t>
            </a:r>
            <a:r>
              <a:rPr lang="en-US" dirty="0"/>
              <a:t>, SUM(salary) AS </a:t>
            </a:r>
            <a:r>
              <a:rPr lang="en-US" dirty="0" err="1"/>
              <a:t>total_salary</a:t>
            </a:r>
            <a:endParaRPr lang="en-US" dirty="0"/>
          </a:p>
          <a:p>
            <a:r>
              <a:rPr lang="en-US" dirty="0"/>
              <a:t>FROM employees</a:t>
            </a:r>
          </a:p>
          <a:p>
            <a:r>
              <a:rPr lang="en-US" dirty="0"/>
              <a:t>GROUP BY </a:t>
            </a:r>
            <a:r>
              <a:rPr lang="en-US" dirty="0" err="1"/>
              <a:t>department_id</a:t>
            </a:r>
            <a:endParaRPr lang="en-US" dirty="0"/>
          </a:p>
          <a:p>
            <a:r>
              <a:rPr lang="en-US" dirty="0"/>
              <a:t>HAVING COUNT(*) &gt; 5</a:t>
            </a:r>
          </a:p>
          <a:p>
            <a:r>
              <a:rPr lang="en-US" dirty="0"/>
              <a:t>ORDER BY </a:t>
            </a:r>
            <a:r>
              <a:rPr lang="en-US" dirty="0" err="1"/>
              <a:t>total_salary</a:t>
            </a:r>
            <a:r>
              <a:rPr lang="en-US" dirty="0"/>
              <a:t> DESC;</a:t>
            </a:r>
            <a:endParaRPr lang="en-IN" dirty="0"/>
          </a:p>
        </p:txBody>
      </p:sp>
    </p:spTree>
    <p:extLst>
      <p:ext uri="{BB962C8B-B14F-4D97-AF65-F5344CB8AC3E}">
        <p14:creationId xmlns:p14="http://schemas.microsoft.com/office/powerpoint/2010/main" val="3448973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C492A9-3425-8836-2AB9-6017E0C82CDC}"/>
              </a:ext>
            </a:extLst>
          </p:cNvPr>
          <p:cNvSpPr txBox="1"/>
          <p:nvPr/>
        </p:nvSpPr>
        <p:spPr>
          <a:xfrm>
            <a:off x="721360" y="698976"/>
            <a:ext cx="7538720" cy="3046988"/>
          </a:xfrm>
          <a:prstGeom prst="rect">
            <a:avLst/>
          </a:prstGeom>
          <a:noFill/>
        </p:spPr>
        <p:txBody>
          <a:bodyPr wrap="square">
            <a:spAutoFit/>
          </a:bodyPr>
          <a:lstStyle/>
          <a:p>
            <a:r>
              <a:rPr lang="en-US" sz="2400" dirty="0"/>
              <a:t>Key Differences:</a:t>
            </a:r>
          </a:p>
          <a:p>
            <a:endParaRPr lang="en-US" sz="2400" dirty="0"/>
          </a:p>
          <a:p>
            <a:pPr marL="342900" indent="-342900">
              <a:buFont typeface="Arial" panose="020B0604020202020204" pitchFamily="34" charset="0"/>
              <a:buChar char="•"/>
            </a:pPr>
            <a:r>
              <a:rPr lang="en-US" sz="2400" dirty="0"/>
              <a:t>GROUP BY groups data into categories.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HAVING filters grouped results (e.g., applying conditions on SUM, COUNT, etc.).</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ORDER BY organizes the final output in a specified order.</a:t>
            </a:r>
            <a:endParaRPr lang="en-IN" sz="2400" dirty="0"/>
          </a:p>
        </p:txBody>
      </p:sp>
    </p:spTree>
    <p:extLst>
      <p:ext uri="{BB962C8B-B14F-4D97-AF65-F5344CB8AC3E}">
        <p14:creationId xmlns:p14="http://schemas.microsoft.com/office/powerpoint/2010/main" val="19293259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1836</TotalTime>
  <Words>4507</Words>
  <Application>Microsoft Office PowerPoint</Application>
  <PresentationFormat>On-screen Show (4:3)</PresentationFormat>
  <Paragraphs>632</Paragraphs>
  <Slides>51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Calibri Light</vt:lpstr>
      <vt:lpstr>Courier New</vt:lpstr>
      <vt:lpstr>Google Sans</vt:lpstr>
      <vt:lpstr>Montserrat</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VU1105-01</dc:creator>
  <cp:lastModifiedBy>SHRIPRADA CHATURBHUJ</cp:lastModifiedBy>
  <cp:revision>82</cp:revision>
  <dcterms:created xsi:type="dcterms:W3CDTF">2022-08-03T12:07:00Z</dcterms:created>
  <dcterms:modified xsi:type="dcterms:W3CDTF">2025-02-05T10:36:23Z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18F3D0EFC75A4842A1D5886A3E205EBC</vt:lpwstr>
  </property>
  <property fmtid="{D5CDD505-2E9C-101B-9397-08002B2CF9AE}" pid="3" name="KSOProductBuildVer">
    <vt:lpwstr>1033-11.2.0.11254</vt:lpwstr>
  </property>
</Properties>
</file>