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1vQX70aCPI8jJf1Lszp5n0kB2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6D0980-BB05-4F1C-A0A3-E8895914601B}">
  <a:tblStyle styleId="{A96D0980-BB05-4F1C-A0A3-E889591460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F64A8623-BC7F-4658-9A11-D64AF9BE6B1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9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29183" y="997565"/>
            <a:ext cx="60855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Vishwakarma University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FYBSc Computer Science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II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BSCCS2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DBMS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19760" y="388819"/>
            <a:ext cx="80466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Raw, unorganized facts or figures without context or meaning.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Numbers (123), text ("Apple"), or observations (temperature readings).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Characteristics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Unprocessed and unstructured.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directly usable for decision-making.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19760" y="3288159"/>
            <a:ext cx="80466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Processed, organized, or structured data that has meaning and context.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"The temperature is 25°C," "John scored 85% in mathematics.“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Characteristics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Derived from data after analysis or processing.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in decision-making and problem-solving.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670560" y="403781"/>
            <a:ext cx="7792800" cy="3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structured collection of data that is stored and accessed electronically.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library's catalog of books.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company's employee records.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Characteristics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Organized in tables, rows, and columns.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efficient storage, retrieval, and management of data.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operations like querying, updating, and deleting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579120" y="344944"/>
            <a:ext cx="81279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DBMS (Database Management System)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software tool designed to manage, store, retrieve, and manipulate data in a database systematically.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of DBMS: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Storage: Stores large amounts of data systematically.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Security: Ensures only authorized users access data.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Integrity: Maintains accuracy and consistency of data.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Processing: Enables users to fetch data efficiently using SQL (Structured Query Language).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Multi-User Access: Supports concurrent data access by multiple users.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and Recovery: Protects data and restores it in case of loss or corruption.</a:t>
            </a:r>
            <a:endParaRPr/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DBMS: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Relational: MySQL, PostgreSQL, Oracle Database.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Non-Relational: MongoDB, Cassandra.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Cloud-Based: Google Firebase, Amazon RDS.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441960" y="258138"/>
            <a:ext cx="82602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Applications of DBMS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Char char="•"/>
            </a:pP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Enterprise</a:t>
            </a:r>
            <a:r>
              <a:rPr b="1"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Information: Sales, accounting, human resources, Manufacturing, online retailers.</a:t>
            </a:r>
            <a:endParaRPr/>
          </a:p>
          <a:p>
            <a:pPr indent="-285750" lvl="0" marL="285750" marR="0" rtl="0" algn="l"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Char char="•"/>
            </a:pP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Banking and Finance Sector: Banks maintaining the customer details, accounts, loans, banking transactions, credit card transactions. Finance: Storing the information about sales and holdings, purchasing of financial stocks and bonds.</a:t>
            </a:r>
            <a:endParaRPr/>
          </a:p>
          <a:p>
            <a:pPr indent="-285750" lvl="0" marL="285750" marR="0" rtl="0" algn="l"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Char char="•"/>
            </a:pP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University: Maintaining the information about student course enrolled information, student grades, staff roles.</a:t>
            </a:r>
            <a:endParaRPr/>
          </a:p>
          <a:p>
            <a:pPr indent="-285750" lvl="0" marL="285750" marR="0" rtl="0" algn="l"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Char char="•"/>
            </a:pP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Airlines: Reservations and schedules.</a:t>
            </a:r>
            <a:endParaRPr/>
          </a:p>
          <a:p>
            <a:pPr indent="-285750" lvl="0" marL="285750" marR="0" rtl="0" algn="l"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Char char="•"/>
            </a:pPr>
            <a:r>
              <a:rPr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Telecommunications</a:t>
            </a:r>
            <a:r>
              <a:rPr b="1"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: </a:t>
            </a:r>
            <a:r>
              <a:rPr b="0" i="0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Prepaid, postpaid bills maintance.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/>
        </p:nvSpPr>
        <p:spPr>
          <a:xfrm>
            <a:off x="548640" y="389374"/>
            <a:ext cx="79554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RDBMS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RDBMS stands for Relational Database Management System.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modern database management systems like SQL, MS SQL Server, IBM DB2, ORACLE, My-SQL, and Microsoft Access are based on RDBMS.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called Relational Database Management System (RDBMS) because it is based on the relational model introduced by E.F. Codd.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Terminologies</a:t>
            </a:r>
            <a:endParaRPr/>
          </a:p>
        </p:txBody>
      </p:sp>
      <p:pic>
        <p:nvPicPr>
          <p:cNvPr descr="What is RDBMS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680" y="2790031"/>
            <a:ext cx="8198640" cy="34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/>
        </p:nvSpPr>
        <p:spPr>
          <a:xfrm>
            <a:off x="447040" y="431919"/>
            <a:ext cx="8117700" cy="5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table/Relation?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in a relational database is stored in the form of relations.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RDBMS database uses tables to store data.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is a collection of related data entries and contains rows and columns to store data.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table represents some real-world objects such as person, place, or event about which information is collected.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organized collection of data into a relational table is known as the logical view of the database.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a Relation: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relation has a unique name by which it is identified in the database.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 does not contain duplicate tuples.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tuples of a relation have no specific order.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attributes in a relation are atomic, i.e., each cell of a relation contains exactly one value.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8"/>
          <p:cNvGraphicFramePr/>
          <p:nvPr/>
        </p:nvGraphicFramePr>
        <p:xfrm>
          <a:off x="695184" y="1021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{A96D0980-BB05-4F1C-A0A3-E8895914601B}</a:tableStyleId>
              </a:tblPr>
              <a:tblGrid>
                <a:gridCol w="1587900"/>
                <a:gridCol w="1587900"/>
                <a:gridCol w="1587900"/>
                <a:gridCol w="1587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ID</a:t>
                      </a:r>
                      <a:endParaRPr/>
                    </a:p>
                  </a:txBody>
                  <a:tcPr marT="76200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/>
                    </a:p>
                  </a:txBody>
                  <a:tcPr marT="76200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AGE</a:t>
                      </a:r>
                      <a:endParaRPr/>
                    </a:p>
                  </a:txBody>
                  <a:tcPr marT="76200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COURSE</a:t>
                      </a:r>
                      <a:endParaRPr/>
                    </a:p>
                  </a:txBody>
                  <a:tcPr marT="76200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Ajeet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B.Tech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aryan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Mahesh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21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BCA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Ratan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MCA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Vimal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BSC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8"/>
          <p:cNvSpPr/>
          <p:nvPr/>
        </p:nvSpPr>
        <p:spPr>
          <a:xfrm>
            <a:off x="4921594" y="323175"/>
            <a:ext cx="1848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534324" y="321548"/>
            <a:ext cx="69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Let's see the example of the student table.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534324" y="3757573"/>
            <a:ext cx="81525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a row or record?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row of a table is also called a record or tuple. It contains the specific information of each entry in the table. It is a horizontal entity in the table. For example, The above table contains 5 records.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Properties of a row:</a:t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 two tuples are identical to each other in all their entries.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All tuples of the relation have the same format and the same number of entries.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order of the tuple is irrelevant. They are identified by their content, not by their position.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/>
        </p:nvSpPr>
        <p:spPr>
          <a:xfrm>
            <a:off x="518160" y="435878"/>
            <a:ext cx="8168700" cy="3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a column/attribute?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column is a vertical entity in the table which contains all information associated with a specific field in a table. For example, "name" is a column in the above table which contains all information about a student's name.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Properties of an Attribute: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Every attribute of a relation must have a name.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Null values are permitted for the attributes.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Default values can be specified for an attribute automatically inserted if no other value is specified for an attribute.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Attributes that uniquely identify each tuple of a relation are the primary key.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518160" y="4406196"/>
            <a:ext cx="81687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data item/Cells?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smallest unit of data in the table is the individual data item. It is stored at the intersection of tuples and attributes.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Properties of data items: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Data items are atomic.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data items for an attribute should be drawn from the same domain.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/>
        </p:nvSpPr>
        <p:spPr>
          <a:xfrm>
            <a:off x="497840" y="349796"/>
            <a:ext cx="8219400" cy="53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Degree: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total number of attributes that comprise a relation is known as the degree of the table.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Cardinality: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total number of tuples at any one time in a relation is known as the table's cardinality. The relation whose cardinality is 0 is called an empty table.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domain refers to the possible values each attribute can contain. It can be specified using standard data types such as integers, floating numbers, etc. </a:t>
            </a:r>
            <a:r>
              <a:rPr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An attribute entitled Marital_Status may be limited to married or unmarried values.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 Values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NULL value of the table specifies that the field has been left blank during record creation. It is different from the value filled with zero or a field that contains space.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/>
        </p:nvSpPr>
        <p:spPr>
          <a:xfrm>
            <a:off x="477520" y="407015"/>
            <a:ext cx="8199000" cy="4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Integrity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There are the following categories of data integrity exist with each RDBMS: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Entity integrity: It specifies that there should be no duplicate rows in a table.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Domain integrity: It enforces valid entries for a given column by restricting the type, the format, or the range of values.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Referential integrity specifies that rows cannot be deleted, which are used by other records.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User-defined integrity: It enforces some specific business rules defined by users. These rules are different from the entity, domain, or referential integrity.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/>
        </p:nvSpPr>
        <p:spPr>
          <a:xfrm>
            <a:off x="487680" y="289679"/>
            <a:ext cx="82602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Before creating the tables, the RDBMS must check the following constraints:</a:t>
            </a:r>
            <a:endParaRPr/>
          </a:p>
          <a:p>
            <a:pPr indent="-285750" lvl="0" marL="285750" marR="0" rtl="0" algn="l">
              <a:spcBef>
                <a:spcPts val="75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Primary keys</a:t>
            </a: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identify each row in the table. One table can only contain one primary key. The key must be unique and without null values.</a:t>
            </a:r>
            <a:endParaRPr/>
          </a:p>
          <a:p>
            <a:pPr indent="-285750" lvl="0" marL="285750" marR="0" rtl="0" algn="l">
              <a:spcBef>
                <a:spcPts val="15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Foreign keys</a:t>
            </a: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are used to link two tables. The foreign key is stored in one table and refers to the primary key associated with another table.</a:t>
            </a:r>
            <a:endParaRPr/>
          </a:p>
          <a:p>
            <a:pPr indent="-285750" lvl="0" marL="285750" marR="0" rtl="0" algn="l">
              <a:spcBef>
                <a:spcPts val="15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ensures that every column doesn't have a null value, such as an empty cell.</a:t>
            </a:r>
            <a:endParaRPr/>
          </a:p>
          <a:p>
            <a:pPr indent="-285750" lvl="0" marL="285750" marR="0" rtl="0" algn="l">
              <a:spcBef>
                <a:spcPts val="15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Check </a:t>
            </a: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confirms that each entry in a column or row satisfies a precise condition and that every column holds unique data.</a:t>
            </a:r>
            <a:endParaRPr/>
          </a:p>
          <a:p>
            <a:pPr indent="-285750" lvl="0" marL="285750" marR="0" rtl="0" algn="l">
              <a:spcBef>
                <a:spcPts val="15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 integrity</a:t>
            </a:r>
            <a:r>
              <a:rPr b="0" i="0"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ensures the integrity of the data is confirmed before the data is created.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/>
        </p:nvSpPr>
        <p:spPr>
          <a:xfrm>
            <a:off x="675640" y="705177"/>
            <a:ext cx="7792800" cy="5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 of RDBMS (Relational Database Management System)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 in Tables: Data is stored in structured formats using rows and columns within tables. Each row (record) represents a unique instance, and each column (attribute) represents data fields.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 Between Tables: Tables are connected through relationships (primary key, foreign key).This ensures data integrity and reduces redundancy.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Integrity: Maintains the accuracy and consistency of data using constraints like primary keys, foreign keys, and unique constraints.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(Structured Query Language):RDBMS supports SQL for querying, manipulating, and managing data efficiently.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Normalization: Reduces data redundancy and improves data integrity by organizing data into smaller, related tables.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/>
        </p:nvSpPr>
        <p:spPr>
          <a:xfrm>
            <a:off x="589280" y="436384"/>
            <a:ext cx="7955400" cy="5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ACID Properties: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Atomicity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Ensures transactions are all-or-nothing.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Consistency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Guarantees database integrity before and after a transaction.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Isolation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Ensures concurrent transactions do not affect each other.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Durability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Changes from committed transactions persist even after a system failure.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Data Security: Provides role-based access control, encryption, and authentication mechanisms to protect sensitive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Scalability: Supports scalability to handle growing amounts of data and concurrent users.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Backup and Recovery: Provides automated backup and recovery features to ensure data safety.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Indexing: Enhances query performance by using indexes to quickly locate data.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15"/>
          <p:cNvGraphicFramePr/>
          <p:nvPr/>
        </p:nvGraphicFramePr>
        <p:xfrm>
          <a:off x="573130" y="9854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{F64A8623-BC7F-4658-9A11-D64AF9BE6B11}</a:tableStyleId>
              </a:tblPr>
              <a:tblGrid>
                <a:gridCol w="2556150"/>
                <a:gridCol w="5415275"/>
              </a:tblGrid>
              <a:tr h="23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Advantage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Description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1. Data Integrity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Maintains consistency, accuracy, and reliability of data through constraints.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2. Data Redundancy Control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Normalization minimizes duplicate data and improves storage efficiency.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3. Easy Query Execution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SQL allows users to retrieve and manipulate data easily.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4. Flexibility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Supports dynamic changes in the database schema and relationships.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5. Security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Provides fine-grained access control and data encryption.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6. Multi-User Accessibility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Allows simultaneous access to data by multiple users with isolation controls.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7. Scalability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Handles large-scale data and user loads effectively.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8. Reliability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ACID compliance ensures reliable and consistent transactions.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9. Backup and Recovery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Ensures data safety through automated backups and recovery tools.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10. Cross-Platform Support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Compatible with various operating systems and environments.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15"/>
          <p:cNvSpPr/>
          <p:nvPr/>
        </p:nvSpPr>
        <p:spPr>
          <a:xfrm>
            <a:off x="2531216" y="260005"/>
            <a:ext cx="408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of RDBMS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16"/>
          <p:cNvGraphicFramePr/>
          <p:nvPr/>
        </p:nvGraphicFramePr>
        <p:xfrm>
          <a:off x="571045" y="11521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{F64A8623-BC7F-4658-9A11-D64AF9BE6B11}</a:tableStyleId>
              </a:tblPr>
              <a:tblGrid>
                <a:gridCol w="2728875"/>
                <a:gridCol w="5273050"/>
              </a:tblGrid>
              <a:tr h="23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Disadvantage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Description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Complexity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Requires expertise for design and administration.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Performance Issues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Slower performance with large datasets and complex queries.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Scalability Limitations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Struggles with horizontal scaling for distributed systems.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High Costs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Expensive software licenses, hardware, and maintenance.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Fixed Schema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Difficult to adapt to changes in data structure.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Unstructured Data Handling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Not suitable for unstructured or semi-structured data.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Relationship Overhead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Managing table relationships adds complexity and slows write operations.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Data Duplication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Synchronization issues in distributed environments.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ACID Compliance Overhead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Performance trade-offs in high-availability systems.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Steep Learning Curve</a:t>
                      </a:r>
                      <a:endParaRPr sz="1600"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Difficult for beginners to master advanced RDBMS concepts.</a:t>
                      </a:r>
                      <a:endParaRPr/>
                    </a:p>
                  </a:txBody>
                  <a:tcPr marT="29400" marB="29400" marR="58800" marL="58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6"/>
          <p:cNvSpPr/>
          <p:nvPr/>
        </p:nvSpPr>
        <p:spPr>
          <a:xfrm>
            <a:off x="2281149" y="260005"/>
            <a:ext cx="458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dvantages of RDBMS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2022-08-03T12:07:00Z</dcterms:created>
  <dc:creator>VU1105-01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18F3D0EFC75A4842A1D5886A3E205EBC</vt:lpwstr>
  </property>
  <property fmtid="{D5CDD505-2E9C-101B-9397-08002B2CF9AE}" pid="3" name="KSOProductBuildVer">
    <vt:lpwstr>1033-11.2.0.11254</vt:lpwstr>
  </property>
</Properties>
</file>